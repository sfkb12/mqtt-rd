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1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97A64B2-9385-4A05-8AB4-F9BCBD12D760}"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C7A4A94-4F79-40C8-B60F-BD70FAA77D7F}"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C9AAF29-6E00-4872-858A-23C2523FF20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746BA52-ABD8-4DB0-9076-E2B9A05AA36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FB855DB-8E29-4B92-944D-5EF35F17100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a:t>
            </a:r>
            <a:r>
              <a:rPr lang="en-US" sz="4400" b="0" u="none" strike="noStrike">
                <a:solidFill>
                  <a:schemeClr val="dk1"/>
                </a:solidFill>
                <a:effectLst/>
                <a:uFillTx/>
                <a:latin typeface="Calibri"/>
              </a:rPr>
              <a:t>ck </a:t>
            </a:r>
            <a:r>
              <a:rPr lang="en-US" sz="4400" b="0" u="none" strike="noStrike">
                <a:solidFill>
                  <a:schemeClr val="dk1"/>
                </a:solidFill>
                <a:effectLst/>
                <a:uFillTx/>
                <a:latin typeface="Calibri"/>
              </a:rPr>
              <a:t>to </a:t>
            </a:r>
            <a:r>
              <a:rPr lang="en-US" sz="4400" b="0" u="none" strike="noStrike">
                <a:solidFill>
                  <a:schemeClr val="dk1"/>
                </a:solidFill>
                <a:effectLst/>
                <a:uFillTx/>
                <a:latin typeface="Calibri"/>
              </a:rPr>
              <a:t>ed</a:t>
            </a:r>
            <a:r>
              <a:rPr lang="en-US" sz="4400" b="0" u="none" strike="noStrike">
                <a:solidFill>
                  <a:schemeClr val="dk1"/>
                </a:solidFill>
                <a:effectLst/>
                <a:uFillTx/>
                <a:latin typeface="Calibri"/>
              </a:rPr>
              <a:t>it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as</a:t>
            </a:r>
            <a:r>
              <a:rPr lang="en-US" sz="4400" b="0" u="none" strike="noStrike">
                <a:solidFill>
                  <a:schemeClr val="dk1"/>
                </a:solidFill>
                <a:effectLst/>
                <a:uFillTx/>
                <a:latin typeface="Calibri"/>
              </a:rPr>
              <a:t>te</a:t>
            </a:r>
            <a:r>
              <a:rPr lang="en-US" sz="4400" b="0" u="none" strike="noStrike">
                <a:solidFill>
                  <a:schemeClr val="dk1"/>
                </a:solidFill>
                <a:effectLst/>
                <a:uFillTx/>
                <a:latin typeface="Calibri"/>
              </a:rPr>
              <a:t>r </a:t>
            </a:r>
            <a:r>
              <a:rPr lang="en-US" sz="4400" b="0" u="none" strike="noStrike">
                <a:solidFill>
                  <a:schemeClr val="dk1"/>
                </a:solidFill>
                <a:effectLst/>
                <a:uFillTx/>
                <a:latin typeface="Calibri"/>
              </a:rPr>
              <a:t>titl</a:t>
            </a:r>
            <a:r>
              <a:rPr lang="en-US" sz="4400" b="0" u="none" strike="noStrike">
                <a:solidFill>
                  <a:schemeClr val="dk1"/>
                </a:solidFill>
                <a:effectLst/>
                <a:uFillTx/>
                <a:latin typeface="Calibri"/>
              </a:rPr>
              <a:t>e </a:t>
            </a:r>
            <a:r>
              <a:rPr lang="en-US" sz="4400" b="0" u="none" strike="noStrike">
                <a:solidFill>
                  <a:schemeClr val="dk1"/>
                </a:solidFill>
                <a:effectLst/>
                <a:uFillTx/>
                <a:latin typeface="Calibri"/>
              </a:rPr>
              <a:t>st</a:t>
            </a:r>
            <a:r>
              <a:rPr lang="en-US" sz="4400" b="0" u="none" strike="noStrike">
                <a:solidFill>
                  <a:schemeClr val="dk1"/>
                </a:solidFill>
                <a:effectLst/>
                <a:uFillTx/>
                <a:latin typeface="Calibri"/>
              </a:rPr>
              <a:t>yl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C2B0B1F-C6F3-4834-A5EC-DCB3A651548F}"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A27956D-59A7-4188-99FA-24612E683B5D}"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a:t>
            </a:r>
            <a:r>
              <a:rPr lang="en-US" sz="4400" b="0" u="none" strike="noStrike">
                <a:solidFill>
                  <a:schemeClr val="dk1"/>
                </a:solidFill>
                <a:effectLst/>
                <a:uFillTx/>
                <a:latin typeface="Calibri"/>
              </a:rPr>
              <a:t>ck </a:t>
            </a:r>
            <a:r>
              <a:rPr lang="en-US" sz="4400" b="0" u="none" strike="noStrike">
                <a:solidFill>
                  <a:schemeClr val="dk1"/>
                </a:solidFill>
                <a:effectLst/>
                <a:uFillTx/>
                <a:latin typeface="Calibri"/>
              </a:rPr>
              <a:t>to </a:t>
            </a:r>
            <a:r>
              <a:rPr lang="en-US" sz="4400" b="0" u="none" strike="noStrike">
                <a:solidFill>
                  <a:schemeClr val="dk1"/>
                </a:solidFill>
                <a:effectLst/>
                <a:uFillTx/>
                <a:latin typeface="Calibri"/>
              </a:rPr>
              <a:t>ed</a:t>
            </a:r>
            <a:r>
              <a:rPr lang="en-US" sz="4400" b="0" u="none" strike="noStrike">
                <a:solidFill>
                  <a:schemeClr val="dk1"/>
                </a:solidFill>
                <a:effectLst/>
                <a:uFillTx/>
                <a:latin typeface="Calibri"/>
              </a:rPr>
              <a:t>it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as</a:t>
            </a:r>
            <a:r>
              <a:rPr lang="en-US" sz="4400" b="0" u="none" strike="noStrike">
                <a:solidFill>
                  <a:schemeClr val="dk1"/>
                </a:solidFill>
                <a:effectLst/>
                <a:uFillTx/>
                <a:latin typeface="Calibri"/>
              </a:rPr>
              <a:t>te</a:t>
            </a:r>
            <a:r>
              <a:rPr lang="en-US" sz="4400" b="0" u="none" strike="noStrike">
                <a:solidFill>
                  <a:schemeClr val="dk1"/>
                </a:solidFill>
                <a:effectLst/>
                <a:uFillTx/>
                <a:latin typeface="Calibri"/>
              </a:rPr>
              <a:t>r </a:t>
            </a:r>
            <a:r>
              <a:rPr lang="en-US" sz="4400" b="0" u="none" strike="noStrike">
                <a:solidFill>
                  <a:schemeClr val="dk1"/>
                </a:solidFill>
                <a:effectLst/>
                <a:uFillTx/>
                <a:latin typeface="Calibri"/>
              </a:rPr>
              <a:t>titl</a:t>
            </a:r>
            <a:r>
              <a:rPr lang="en-US" sz="4400" b="0" u="none" strike="noStrike">
                <a:solidFill>
                  <a:schemeClr val="dk1"/>
                </a:solidFill>
                <a:effectLst/>
                <a:uFillTx/>
                <a:latin typeface="Calibri"/>
              </a:rPr>
              <a:t>e </a:t>
            </a:r>
            <a:r>
              <a:rPr lang="en-US" sz="4400" b="0" u="none" strike="noStrike">
                <a:solidFill>
                  <a:schemeClr val="dk1"/>
                </a:solidFill>
                <a:effectLst/>
                <a:uFillTx/>
                <a:latin typeface="Calibri"/>
              </a:rPr>
              <a:t>st</a:t>
            </a:r>
            <a:r>
              <a:rPr lang="en-US" sz="4400" b="0" u="none" strike="noStrike">
                <a:solidFill>
                  <a:schemeClr val="dk1"/>
                </a:solidFill>
                <a:effectLst/>
                <a:uFillTx/>
                <a:latin typeface="Calibri"/>
              </a:rPr>
              <a:t>yl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420F844-218B-44A2-A38F-B9968B8566B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A7DD81C-39EA-46B4-8262-26F44E072D33}"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B4BD2F1-0A18-44BE-BB76-7944845757A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31C09B8-4829-4F16-B339-D3ED72FB3C4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Rectangle 1"/>
          <p:cNvSpPr/>
          <p:nvPr/>
        </p:nvSpPr>
        <p:spPr>
          <a:xfrm>
            <a:off x="0" y="0"/>
            <a:ext cx="12191400" cy="6857640"/>
          </a:xfrm>
          <a:prstGeom prst="rect">
            <a:avLst/>
          </a:prstGeom>
          <a:solidFill>
            <a:srgbClr val="1A00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 name="TextBox 2"/>
          <p:cNvSpPr/>
          <p:nvPr/>
        </p:nvSpPr>
        <p:spPr>
          <a:xfrm>
            <a:off x="457200" y="411480"/>
            <a:ext cx="4343400" cy="288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1" u="none" strike="noStrike">
                <a:solidFill>
                  <a:srgbClr val="E05C2A"/>
                </a:solidFill>
                <a:effectLst/>
                <a:uFillTx/>
                <a:latin typeface="Calibri"/>
              </a:rPr>
              <a:t>PROJET FINAL — RAISON/RINCON/MEDINAS</a:t>
            </a:r>
            <a:endParaRPr lang="en-US" sz="1300" b="0" u="none" strike="noStrike">
              <a:solidFill>
                <a:srgbClr val="000000"/>
              </a:solidFill>
              <a:effectLst/>
              <a:uFillTx/>
              <a:latin typeface="Arial"/>
            </a:endParaRPr>
          </a:p>
        </p:txBody>
      </p:sp>
      <p:sp>
        <p:nvSpPr>
          <p:cNvPr id="63" name="TextBox 3"/>
          <p:cNvSpPr/>
          <p:nvPr/>
        </p:nvSpPr>
        <p:spPr>
          <a:xfrm>
            <a:off x="457200" y="1188720"/>
            <a:ext cx="11246760" cy="1188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200" b="1" u="none" strike="noStrike">
                <a:solidFill>
                  <a:srgbClr val="FFFFFF"/>
                </a:solidFill>
                <a:effectLst/>
                <a:uFillTx/>
                <a:latin typeface="Calibri"/>
              </a:rPr>
              <a:t>Audit de Sécurité IoT Automobile</a:t>
            </a:r>
            <a:endParaRPr lang="en-US" sz="5200" b="0" u="none" strike="noStrike">
              <a:solidFill>
                <a:srgbClr val="000000"/>
              </a:solidFill>
              <a:effectLst/>
              <a:uFillTx/>
              <a:latin typeface="Arial"/>
            </a:endParaRPr>
          </a:p>
        </p:txBody>
      </p:sp>
      <p:sp>
        <p:nvSpPr>
          <p:cNvPr id="64" name="TextBox 4"/>
          <p:cNvSpPr/>
          <p:nvPr/>
        </p:nvSpPr>
        <p:spPr>
          <a:xfrm>
            <a:off x="457200" y="2377440"/>
            <a:ext cx="11246760" cy="100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000" b="1" u="none" strike="noStrike">
                <a:solidFill>
                  <a:srgbClr val="FFFFFF"/>
                </a:solidFill>
                <a:effectLst/>
                <a:uFillTx/>
                <a:latin typeface="Calibri"/>
              </a:rPr>
              <a:t>ELM327 Gateway  ·  Car Scanner App (AVD)  · Communication TCP/IP</a:t>
            </a:r>
            <a:endParaRPr lang="en-US" sz="3000" b="0" u="none" strike="noStrike">
              <a:solidFill>
                <a:srgbClr val="000000"/>
              </a:solidFill>
              <a:effectLst/>
              <a:uFillTx/>
              <a:latin typeface="Arial"/>
            </a:endParaRPr>
          </a:p>
        </p:txBody>
      </p:sp>
      <p:sp>
        <p:nvSpPr>
          <p:cNvPr id="65" name="TextBox 5"/>
          <p:cNvSpPr/>
          <p:nvPr/>
        </p:nvSpPr>
        <p:spPr>
          <a:xfrm>
            <a:off x="411840" y="3886560"/>
            <a:ext cx="11246760" cy="1614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sng" strike="noStrike">
                <a:solidFill>
                  <a:srgbClr val="F4A460"/>
                </a:solidFill>
                <a:effectLst/>
                <a:uFillTx/>
                <a:latin typeface="Calibri"/>
              </a:rPr>
              <a:t>Périmètre :</a:t>
            </a:r>
            <a:endParaRPr lang="en-US" sz="2000" b="0" u="none" strike="noStrike">
              <a:solidFill>
                <a:srgbClr val="000000"/>
              </a:solidFill>
              <a:effectLst/>
              <a:uFillTx/>
              <a:latin typeface="Arial"/>
            </a:endParaRPr>
          </a:p>
          <a:p>
            <a:pPr defTabSz="457200">
              <a:lnSpc>
                <a:spcPct val="100000"/>
              </a:lnSpc>
            </a:pPr>
            <a:endParaRPr lang="en-US" sz="2000" b="0" u="none" strike="noStrike">
              <a:solidFill>
                <a:srgbClr val="000000"/>
              </a:solidFill>
              <a:effectLst/>
              <a:uFillTx/>
              <a:latin typeface="Arial"/>
            </a:endParaRPr>
          </a:p>
          <a:p>
            <a:pPr defTabSz="457200">
              <a:lnSpc>
                <a:spcPct val="100000"/>
              </a:lnSpc>
            </a:pPr>
            <a:r>
              <a:rPr lang="en-US" sz="2000" b="0" u="none" strike="noStrike">
                <a:solidFill>
                  <a:srgbClr val="F4A460"/>
                </a:solidFill>
                <a:effectLst/>
                <a:uFillTx/>
                <a:latin typeface="Calibri"/>
              </a:rPr>
              <a:t>- Dongle OBD2 (émulateur Python)</a:t>
            </a:r>
            <a:endParaRPr lang="en-US" sz="2000" b="0" u="none" strike="noStrike">
              <a:solidFill>
                <a:srgbClr val="000000"/>
              </a:solidFill>
              <a:effectLst/>
              <a:uFillTx/>
              <a:latin typeface="Arial"/>
            </a:endParaRPr>
          </a:p>
          <a:p>
            <a:pPr defTabSz="457200">
              <a:lnSpc>
                <a:spcPct val="100000"/>
              </a:lnSpc>
            </a:pPr>
            <a:r>
              <a:rPr lang="en-US" sz="2000" b="0" u="none" strike="noStrike">
                <a:solidFill>
                  <a:srgbClr val="F4A460"/>
                </a:solidFill>
                <a:effectLst/>
                <a:uFillTx/>
                <a:latin typeface="Calibri"/>
              </a:rPr>
              <a:t>- Application Android (Android Studio AVD)</a:t>
            </a:r>
            <a:endParaRPr lang="en-US" sz="2000" b="0" u="none" strike="noStrike">
              <a:solidFill>
                <a:srgbClr val="000000"/>
              </a:solidFill>
              <a:effectLst/>
              <a:uFillTx/>
              <a:latin typeface="Arial"/>
            </a:endParaRPr>
          </a:p>
          <a:p>
            <a:pPr defTabSz="457200">
              <a:lnSpc>
                <a:spcPct val="100000"/>
              </a:lnSpc>
            </a:pPr>
            <a:r>
              <a:rPr lang="en-US" sz="2000" b="0" u="none" strike="noStrike">
                <a:solidFill>
                  <a:srgbClr val="F4A460"/>
                </a:solidFill>
                <a:effectLst/>
                <a:uFillTx/>
                <a:latin typeface="Calibri"/>
              </a:rPr>
              <a:t>- Bus CAN (vcan0)</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Rectangle 1"/>
          <p:cNvSpPr/>
          <p:nvPr/>
        </p:nvSpPr>
        <p:spPr>
          <a:xfrm>
            <a:off x="0" y="0"/>
            <a:ext cx="12191400" cy="6857640"/>
          </a:xfrm>
          <a:prstGeom prst="rect">
            <a:avLst/>
          </a:prstGeom>
          <a:solidFill>
            <a:srgbClr val="FFF5E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7" name="Rectangle 2"/>
          <p:cNvSpPr/>
          <p:nvPr/>
        </p:nvSpPr>
        <p:spPr>
          <a:xfrm>
            <a:off x="0" y="0"/>
            <a:ext cx="273960" cy="6857640"/>
          </a:xfrm>
          <a:prstGeom prst="rect">
            <a:avLst/>
          </a:prstGeom>
          <a:solidFill>
            <a:srgbClr val="E05C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8" name="Rectangle 3"/>
          <p:cNvSpPr/>
          <p:nvPr/>
        </p:nvSpPr>
        <p:spPr>
          <a:xfrm>
            <a:off x="0" y="274320"/>
            <a:ext cx="12191400" cy="914040"/>
          </a:xfrm>
          <a:prstGeom prst="rect">
            <a:avLst/>
          </a:prstGeom>
          <a:solidFill>
            <a:srgbClr val="8B00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9" name="TextBox 4"/>
          <p:cNvSpPr/>
          <p:nvPr/>
        </p:nvSpPr>
        <p:spPr>
          <a:xfrm>
            <a:off x="457200" y="274320"/>
            <a:ext cx="11277000" cy="91404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100000"/>
              </a:lnSpc>
            </a:pPr>
            <a:r>
              <a:rPr lang="en-US" sz="3000" b="1" u="none" strike="noStrike">
                <a:solidFill>
                  <a:srgbClr val="FFFFFF"/>
                </a:solidFill>
                <a:effectLst/>
                <a:uFillTx/>
                <a:latin typeface="Calibri"/>
              </a:rPr>
              <a:t>Résumé Exécutif</a:t>
            </a:r>
            <a:endParaRPr lang="en-US" sz="3000" b="0" u="none" strike="noStrike">
              <a:solidFill>
                <a:srgbClr val="000000"/>
              </a:solidFill>
              <a:effectLst/>
              <a:uFillTx/>
              <a:latin typeface="Arial"/>
            </a:endParaRPr>
          </a:p>
        </p:txBody>
      </p:sp>
      <p:sp>
        <p:nvSpPr>
          <p:cNvPr id="70" name="TextBox 5"/>
          <p:cNvSpPr/>
          <p:nvPr/>
        </p:nvSpPr>
        <p:spPr>
          <a:xfrm>
            <a:off x="548640" y="1417320"/>
            <a:ext cx="11063880" cy="5028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endParaRPr lang="en-US" sz="100" b="0" u="none" strike="noStrike">
              <a:solidFill>
                <a:srgbClr val="000000"/>
              </a:solidFill>
              <a:effectLst/>
              <a:uFillTx/>
              <a:latin typeface="Arial"/>
            </a:endParaRPr>
          </a:p>
          <a:p>
            <a:pPr defTabSz="457200">
              <a:lnSpc>
                <a:spcPct val="100000"/>
              </a:lnSpc>
            </a:pPr>
            <a:r>
              <a:rPr lang="en-US" sz="2200" b="1" u="none" strike="noStrike">
                <a:solidFill>
                  <a:srgbClr val="8B0000"/>
                </a:solidFill>
                <a:effectLst/>
                <a:uFillTx/>
                <a:latin typeface="Calibri"/>
              </a:rPr>
              <a:t>Synthèse des risques identifiés</a:t>
            </a:r>
            <a:endParaRPr lang="en-US" sz="2200" b="0" u="none" strike="noStrike">
              <a:solidFill>
                <a:srgbClr val="000000"/>
              </a:solidFill>
              <a:effectLst/>
              <a:uFillTx/>
              <a:latin typeface="Arial"/>
            </a:endParaRPr>
          </a:p>
          <a:p>
            <a:pPr defTabSz="457200">
              <a:lnSpc>
                <a:spcPct val="100000"/>
              </a:lnSpc>
              <a:spcBef>
                <a:spcPts val="1199"/>
              </a:spcBef>
            </a:pPr>
            <a:r>
              <a:rPr lang="en-US" sz="1800" b="0" u="none" strike="noStrike">
                <a:solidFill>
                  <a:srgbClr val="1A1A1A"/>
                </a:solidFill>
                <a:effectLst/>
                <a:uFillTx/>
                <a:latin typeface="Calibri"/>
              </a:rPr>
              <a:t>• L'audit révèle des vulnérabilités critiques dans l'écosystème OBD2 ELM327 et l'application Car Scanner, communicant via un socket TCP/IP non sécurisé.</a:t>
            </a:r>
            <a:endParaRPr lang="en-US" sz="1800" b="0" u="none" strike="noStrike">
              <a:solidFill>
                <a:srgbClr val="000000"/>
              </a:solidFill>
              <a:effectLst/>
              <a:uFillTx/>
              <a:latin typeface="Arial"/>
            </a:endParaRPr>
          </a:p>
          <a:p>
            <a:pPr defTabSz="457200">
              <a:lnSpc>
                <a:spcPct val="100000"/>
              </a:lnSpc>
              <a:spcBef>
                <a:spcPts val="1199"/>
              </a:spcBef>
            </a:pPr>
            <a:r>
              <a:rPr lang="en-US" sz="1800" b="0" u="none" strike="noStrike">
                <a:solidFill>
                  <a:srgbClr val="1A1A1A"/>
                </a:solidFill>
                <a:effectLst/>
                <a:uFillTx/>
                <a:latin typeface="Calibri"/>
              </a:rPr>
              <a:t>• Le vecteur d'attaque principal est l'absence de chiffrement TLS sur la connexion TCP entre l'émulateur ELM327 (port 35000) et l'application Android (AVD). Tout le trafic de diagnostic circule en clair sur le réseau.</a:t>
            </a:r>
            <a:endParaRPr lang="en-US" sz="1800" b="0" u="none" strike="noStrike">
              <a:solidFill>
                <a:srgbClr val="000000"/>
              </a:solidFill>
              <a:effectLst/>
              <a:uFillTx/>
              <a:latin typeface="Arial"/>
            </a:endParaRPr>
          </a:p>
          <a:p>
            <a:pPr defTabSz="457200">
              <a:lnSpc>
                <a:spcPct val="100000"/>
              </a:lnSpc>
              <a:spcBef>
                <a:spcPts val="1199"/>
              </a:spcBef>
            </a:pPr>
            <a:r>
              <a:rPr lang="en-US" sz="1800" b="0" u="none" strike="noStrike">
                <a:solidFill>
                  <a:srgbClr val="1A1A1A"/>
                </a:solidFill>
                <a:effectLst/>
                <a:uFillTx/>
                <a:latin typeface="Calibri"/>
              </a:rPr>
              <a:t>• Un attaquant positionné sur le même réseau peut intercepter, rejouer ou injecter des commandes OBD2 arbitraires, ouvrant un accès direct au bus CAN du véhicule.</a:t>
            </a:r>
            <a:endParaRPr lang="en-US" sz="1800" b="0" u="none" strike="noStrike">
              <a:solidFill>
                <a:srgbClr val="000000"/>
              </a:solidFill>
              <a:effectLst/>
              <a:uFillTx/>
              <a:latin typeface="Arial"/>
            </a:endParaRPr>
          </a:p>
          <a:p>
            <a:pPr defTabSz="457200">
              <a:lnSpc>
                <a:spcPct val="100000"/>
              </a:lnSpc>
              <a:spcBef>
                <a:spcPts val="1199"/>
              </a:spcBef>
            </a:pPr>
            <a:r>
              <a:rPr lang="en-US" sz="1800" b="0" u="none" strike="noStrike">
                <a:solidFill>
                  <a:srgbClr val="1A1A1A"/>
                </a:solidFill>
                <a:effectLst/>
                <a:uFillTx/>
                <a:latin typeface="Calibri"/>
              </a:rPr>
              <a:t>• Recommandation immédiate : chiffrer le socket TCP avec TLS 1.3 + authentification mutuelle (mTLS) et segmenter physiquement le réseau CAN critique du port de diagnostic.</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Rectangle 1"/>
          <p:cNvSpPr/>
          <p:nvPr/>
        </p:nvSpPr>
        <p:spPr>
          <a:xfrm>
            <a:off x="0" y="0"/>
            <a:ext cx="12191400" cy="6857640"/>
          </a:xfrm>
          <a:prstGeom prst="rect">
            <a:avLst/>
          </a:prstGeom>
          <a:solidFill>
            <a:srgbClr val="FFF5E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2" name="Rectangle 2"/>
          <p:cNvSpPr/>
          <p:nvPr/>
        </p:nvSpPr>
        <p:spPr>
          <a:xfrm>
            <a:off x="0" y="0"/>
            <a:ext cx="273960" cy="6857640"/>
          </a:xfrm>
          <a:prstGeom prst="rect">
            <a:avLst/>
          </a:prstGeom>
          <a:solidFill>
            <a:srgbClr val="E05C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3" name="Rectangle 3"/>
          <p:cNvSpPr/>
          <p:nvPr/>
        </p:nvSpPr>
        <p:spPr>
          <a:xfrm>
            <a:off x="0" y="274320"/>
            <a:ext cx="12191400" cy="914040"/>
          </a:xfrm>
          <a:prstGeom prst="rect">
            <a:avLst/>
          </a:prstGeom>
          <a:solidFill>
            <a:srgbClr val="8B00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4" name="TextBox 4"/>
          <p:cNvSpPr/>
          <p:nvPr/>
        </p:nvSpPr>
        <p:spPr>
          <a:xfrm>
            <a:off x="457200" y="274320"/>
            <a:ext cx="11277000" cy="91404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100000"/>
              </a:lnSpc>
            </a:pPr>
            <a:r>
              <a:rPr lang="en-US" sz="3000" b="1" u="none" strike="noStrike">
                <a:solidFill>
                  <a:srgbClr val="FFFFFF"/>
                </a:solidFill>
                <a:effectLst/>
                <a:uFillTx/>
                <a:latin typeface="Calibri"/>
              </a:rPr>
              <a:t>Périmètre &amp; Méthodologie</a:t>
            </a:r>
            <a:endParaRPr lang="en-US" sz="3000" b="0" u="none" strike="noStrike">
              <a:solidFill>
                <a:srgbClr val="000000"/>
              </a:solidFill>
              <a:effectLst/>
              <a:uFillTx/>
              <a:latin typeface="Arial"/>
            </a:endParaRPr>
          </a:p>
        </p:txBody>
      </p:sp>
      <p:sp>
        <p:nvSpPr>
          <p:cNvPr id="75" name="Rectangle 5"/>
          <p:cNvSpPr/>
          <p:nvPr/>
        </p:nvSpPr>
        <p:spPr>
          <a:xfrm>
            <a:off x="548640" y="1554480"/>
            <a:ext cx="5211720" cy="4571640"/>
          </a:xfrm>
          <a:prstGeom prst="rect">
            <a:avLst/>
          </a:prstGeom>
          <a:solidFill>
            <a:srgbClr val="5C2A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6" name="TextBox 6"/>
          <p:cNvSpPr/>
          <p:nvPr/>
        </p:nvSpPr>
        <p:spPr>
          <a:xfrm>
            <a:off x="685800" y="1691640"/>
            <a:ext cx="4937400" cy="28285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endParaRPr lang="en-US" sz="1800" b="0" u="none" strike="noStrike">
              <a:solidFill>
                <a:srgbClr val="000000"/>
              </a:solidFill>
              <a:effectLst/>
              <a:uFillTx/>
              <a:latin typeface="Arial"/>
            </a:endParaRPr>
          </a:p>
          <a:p>
            <a:pPr defTabSz="457200">
              <a:lnSpc>
                <a:spcPct val="100000"/>
              </a:lnSpc>
            </a:pPr>
            <a:r>
              <a:rPr lang="en-US" sz="2000" b="1" u="none" strike="noStrike">
                <a:solidFill>
                  <a:srgbClr val="FFFFFF"/>
                </a:solidFill>
                <a:effectLst/>
                <a:uFillTx/>
                <a:latin typeface="Calibri"/>
              </a:rPr>
              <a:t>Assets Analysés</a:t>
            </a:r>
            <a:endParaRPr lang="en-US" sz="2000" b="0" u="none" strike="noStrike">
              <a:solidFill>
                <a:srgbClr val="000000"/>
              </a:solidFill>
              <a:effectLst/>
              <a:uFillTx/>
              <a:latin typeface="Arial"/>
            </a:endParaRPr>
          </a:p>
          <a:p>
            <a:pPr defTabSz="457200">
              <a:lnSpc>
                <a:spcPct val="100000"/>
              </a:lnSpc>
            </a:pPr>
            <a:endParaRPr lang="en-US" sz="20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Gateway : ELM327-emulator Python</a:t>
            </a:r>
            <a:endParaRPr lang="en-US" sz="16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Edge : App Car Scanner ELM OBD2</a:t>
            </a:r>
            <a:endParaRPr lang="en-US" sz="16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Interface : TCP/IP Socket via réseau AVD</a:t>
            </a:r>
            <a:endParaRPr lang="en-US" sz="16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Backend : API Cloud (télémétrie, diagnostics)</a:t>
            </a:r>
            <a:endParaRPr lang="en-US" sz="16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Bus CAN simulé : interface vcan0 (can-utils)</a:t>
            </a:r>
            <a:endParaRPr lang="en-US" sz="1600" b="0" u="none" strike="noStrike">
              <a:solidFill>
                <a:srgbClr val="000000"/>
              </a:solidFill>
              <a:effectLst/>
              <a:uFillTx/>
              <a:latin typeface="Arial"/>
            </a:endParaRPr>
          </a:p>
        </p:txBody>
      </p:sp>
      <p:sp>
        <p:nvSpPr>
          <p:cNvPr id="77" name="Rectangle 7"/>
          <p:cNvSpPr/>
          <p:nvPr/>
        </p:nvSpPr>
        <p:spPr>
          <a:xfrm>
            <a:off x="6309360" y="1554480"/>
            <a:ext cx="5394600" cy="4571640"/>
          </a:xfrm>
          <a:prstGeom prst="rect">
            <a:avLst/>
          </a:prstGeom>
          <a:solidFill>
            <a:srgbClr val="1E375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8" name="TextBox 8"/>
          <p:cNvSpPr/>
          <p:nvPr/>
        </p:nvSpPr>
        <p:spPr>
          <a:xfrm>
            <a:off x="6446520" y="1691640"/>
            <a:ext cx="5120280" cy="3199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endParaRPr lang="en-US" sz="1800" b="0" u="none" strike="noStrike">
              <a:solidFill>
                <a:srgbClr val="000000"/>
              </a:solidFill>
              <a:effectLst/>
              <a:uFillTx/>
              <a:latin typeface="Arial"/>
            </a:endParaRPr>
          </a:p>
          <a:p>
            <a:pPr defTabSz="457200">
              <a:lnSpc>
                <a:spcPct val="100000"/>
              </a:lnSpc>
            </a:pPr>
            <a:r>
              <a:rPr lang="en-US" sz="2000" b="1" u="none" strike="noStrike">
                <a:solidFill>
                  <a:srgbClr val="FFFFFF"/>
                </a:solidFill>
                <a:effectLst/>
                <a:uFillTx/>
                <a:latin typeface="Calibri"/>
              </a:rPr>
              <a:t>Méthodologie &amp; Outils</a:t>
            </a:r>
            <a:endParaRPr lang="en-US" sz="2000" b="0" u="none" strike="noStrike">
              <a:solidFill>
                <a:srgbClr val="000000"/>
              </a:solidFill>
              <a:effectLst/>
              <a:uFillTx/>
              <a:latin typeface="Arial"/>
            </a:endParaRPr>
          </a:p>
          <a:p>
            <a:pPr defTabSz="457200">
              <a:lnSpc>
                <a:spcPct val="100000"/>
              </a:lnSpc>
            </a:pPr>
            <a:endParaRPr lang="en-US" sz="20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Reverse Engineering APK : jadx-gui, apktool</a:t>
            </a:r>
            <a:endParaRPr lang="en-US" sz="16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Analyse réseau: Wireshark, tcpdump, nc, nmap</a:t>
            </a:r>
            <a:endParaRPr lang="en-US" sz="16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Émulation Bus CAN : can-utils</a:t>
            </a:r>
            <a:endParaRPr lang="en-US" sz="16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Émulation ELM327 : ELM327-emulator Python</a:t>
            </a:r>
            <a:endParaRPr lang="en-US" sz="16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Émulation Android : Android Studio</a:t>
            </a:r>
            <a:endParaRPr lang="en-US" sz="16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Threat Modeling : Méthode STRIDE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Rectangle 1"/>
          <p:cNvSpPr/>
          <p:nvPr/>
        </p:nvSpPr>
        <p:spPr>
          <a:xfrm>
            <a:off x="0" y="0"/>
            <a:ext cx="12191400" cy="6857640"/>
          </a:xfrm>
          <a:prstGeom prst="rect">
            <a:avLst/>
          </a:prstGeom>
          <a:solidFill>
            <a:srgbClr val="8B00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0" name="Rectangle 2"/>
          <p:cNvSpPr/>
          <p:nvPr/>
        </p:nvSpPr>
        <p:spPr>
          <a:xfrm>
            <a:off x="0" y="0"/>
            <a:ext cx="273960" cy="6857640"/>
          </a:xfrm>
          <a:prstGeom prst="rect">
            <a:avLst/>
          </a:prstGeom>
          <a:solidFill>
            <a:srgbClr val="E05C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1" name="TextBox 3"/>
          <p:cNvSpPr/>
          <p:nvPr/>
        </p:nvSpPr>
        <p:spPr>
          <a:xfrm>
            <a:off x="731520" y="1828800"/>
            <a:ext cx="5486040" cy="4568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600" b="1" u="none" strike="noStrike">
                <a:solidFill>
                  <a:srgbClr val="E05C2A"/>
                </a:solidFill>
                <a:effectLst/>
                <a:uFillTx/>
                <a:latin typeface="Calibri"/>
              </a:rPr>
              <a:t>P H A S E   1</a:t>
            </a:r>
            <a:endParaRPr lang="en-US" sz="1600" b="0" u="none" strike="noStrike">
              <a:solidFill>
                <a:srgbClr val="000000"/>
              </a:solidFill>
              <a:effectLst/>
              <a:uFillTx/>
              <a:latin typeface="Arial"/>
            </a:endParaRPr>
          </a:p>
        </p:txBody>
      </p:sp>
      <p:sp>
        <p:nvSpPr>
          <p:cNvPr id="82" name="TextBox 4"/>
          <p:cNvSpPr/>
          <p:nvPr/>
        </p:nvSpPr>
        <p:spPr>
          <a:xfrm>
            <a:off x="731520" y="2560320"/>
            <a:ext cx="10515240" cy="16455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5000" b="1" u="none" strike="noStrike">
                <a:solidFill>
                  <a:srgbClr val="FFFFFF"/>
                </a:solidFill>
                <a:effectLst/>
                <a:uFillTx/>
                <a:latin typeface="Calibri"/>
              </a:rPr>
              <a:t>Security by Design</a:t>
            </a:r>
            <a:endParaRPr lang="en-US" sz="5000" b="0" u="none" strike="noStrike">
              <a:solidFill>
                <a:srgbClr val="000000"/>
              </a:solidFill>
              <a:effectLst/>
              <a:uFillTx/>
              <a:latin typeface="Arial"/>
            </a:endParaRPr>
          </a:p>
        </p:txBody>
      </p:sp>
      <p:sp>
        <p:nvSpPr>
          <p:cNvPr id="83" name="Rectangle 5"/>
          <p:cNvSpPr/>
          <p:nvPr/>
        </p:nvSpPr>
        <p:spPr>
          <a:xfrm>
            <a:off x="731520" y="4297680"/>
            <a:ext cx="1828440" cy="45360"/>
          </a:xfrm>
          <a:prstGeom prst="rect">
            <a:avLst/>
          </a:prstGeom>
          <a:solidFill>
            <a:srgbClr val="E05C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p>
            <a:endParaRPr lang="en-US" sz="1800" b="0" u="none" strike="noStrik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Rectangle 1"/>
          <p:cNvSpPr/>
          <p:nvPr/>
        </p:nvSpPr>
        <p:spPr>
          <a:xfrm>
            <a:off x="0" y="0"/>
            <a:ext cx="12191400" cy="6857640"/>
          </a:xfrm>
          <a:prstGeom prst="rect">
            <a:avLst/>
          </a:prstGeom>
          <a:solidFill>
            <a:srgbClr val="FFF5E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5" name="Rectangle 2"/>
          <p:cNvSpPr/>
          <p:nvPr/>
        </p:nvSpPr>
        <p:spPr>
          <a:xfrm>
            <a:off x="0" y="0"/>
            <a:ext cx="273960" cy="6857640"/>
          </a:xfrm>
          <a:prstGeom prst="rect">
            <a:avLst/>
          </a:prstGeom>
          <a:solidFill>
            <a:srgbClr val="E05C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6" name="Rectangle 3"/>
          <p:cNvSpPr/>
          <p:nvPr/>
        </p:nvSpPr>
        <p:spPr>
          <a:xfrm>
            <a:off x="0" y="274320"/>
            <a:ext cx="12191400" cy="914040"/>
          </a:xfrm>
          <a:prstGeom prst="rect">
            <a:avLst/>
          </a:prstGeom>
          <a:solidFill>
            <a:srgbClr val="8B00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7" name="TextBox 4"/>
          <p:cNvSpPr/>
          <p:nvPr/>
        </p:nvSpPr>
        <p:spPr>
          <a:xfrm>
            <a:off x="457200" y="274320"/>
            <a:ext cx="11277000" cy="91404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100000"/>
              </a:lnSpc>
            </a:pPr>
            <a:r>
              <a:rPr lang="en-US" sz="3000" b="1" u="none" strike="noStrike">
                <a:solidFill>
                  <a:srgbClr val="FFFFFF"/>
                </a:solidFill>
                <a:effectLst/>
                <a:uFillTx/>
                <a:latin typeface="Calibri"/>
              </a:rPr>
              <a:t>Architecture Cible Sécurisée (Security by Design)</a:t>
            </a:r>
            <a:endParaRPr lang="en-US" sz="3000" b="0" u="none" strike="noStrike">
              <a:solidFill>
                <a:srgbClr val="000000"/>
              </a:solidFill>
              <a:effectLst/>
              <a:uFillTx/>
              <a:latin typeface="Arial"/>
            </a:endParaRPr>
          </a:p>
        </p:txBody>
      </p:sp>
      <p:sp>
        <p:nvSpPr>
          <p:cNvPr id="88" name="TextBox 5"/>
          <p:cNvSpPr/>
          <p:nvPr/>
        </p:nvSpPr>
        <p:spPr>
          <a:xfrm>
            <a:off x="548640" y="1371600"/>
            <a:ext cx="11063880" cy="2559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endParaRPr lang="en-US" sz="100" b="0" u="none" strike="noStrike">
              <a:solidFill>
                <a:srgbClr val="000000"/>
              </a:solidFill>
              <a:effectLst/>
              <a:uFillTx/>
              <a:latin typeface="Arial"/>
            </a:endParaRPr>
          </a:p>
          <a:p>
            <a:pPr defTabSz="457200">
              <a:lnSpc>
                <a:spcPct val="100000"/>
              </a:lnSpc>
            </a:pPr>
            <a:r>
              <a:rPr lang="en-US" sz="2000" b="1" u="none" strike="noStrike">
                <a:solidFill>
                  <a:srgbClr val="8B0000"/>
                </a:solidFill>
                <a:effectLst/>
                <a:uFillTx/>
                <a:latin typeface="Calibri"/>
              </a:rPr>
              <a:t>Justification de la réduction de la surface d'attaque :</a:t>
            </a:r>
            <a:endParaRPr lang="en-US" sz="2000" b="0" u="none" strike="noStrike">
              <a:solidFill>
                <a:srgbClr val="000000"/>
              </a:solidFill>
              <a:effectLst/>
              <a:uFillTx/>
              <a:latin typeface="Arial"/>
            </a:endParaRPr>
          </a:p>
          <a:p>
            <a:pPr defTabSz="457200">
              <a:lnSpc>
                <a:spcPct val="100000"/>
              </a:lnSpc>
              <a:spcBef>
                <a:spcPts val="1001"/>
              </a:spcBef>
            </a:pPr>
            <a:r>
              <a:rPr lang="en-US" sz="1700" b="0" u="none" strike="noStrike">
                <a:solidFill>
                  <a:srgbClr val="1A1A1A"/>
                </a:solidFill>
                <a:effectLst/>
                <a:uFillTx/>
                <a:latin typeface="Calibri"/>
              </a:rPr>
              <a:t>• Séparation des privilèges (Least Privilege) : Le dongle ELM327 agit en lecture seule sur le bus CAN — il ne peut physiquement pas écrire de trames arbitraires vers les ECUs.</a:t>
            </a:r>
            <a:endParaRPr lang="en-US" sz="1700" b="0" u="none" strike="noStrike">
              <a:solidFill>
                <a:srgbClr val="000000"/>
              </a:solidFill>
              <a:effectLst/>
              <a:uFillTx/>
              <a:latin typeface="Arial"/>
            </a:endParaRPr>
          </a:p>
          <a:p>
            <a:pPr defTabSz="457200">
              <a:lnSpc>
                <a:spcPct val="100000"/>
              </a:lnSpc>
              <a:spcBef>
                <a:spcPts val="1001"/>
              </a:spcBef>
            </a:pPr>
            <a:r>
              <a:rPr lang="en-US" sz="1700" b="0" u="none" strike="noStrike">
                <a:solidFill>
                  <a:srgbClr val="1A1A1A"/>
                </a:solidFill>
                <a:effectLst/>
                <a:uFillTx/>
                <a:latin typeface="Calibri"/>
              </a:rPr>
              <a:t>• Chiffrement du socket TCP : La communication entre l'émulateur ELM327 et l'application Android doit utiliser TLS 1.3 avec authentification mutuelle (mTLS), éliminant les attaques MitM TCP.</a:t>
            </a:r>
            <a:endParaRPr lang="en-US" sz="1700" b="0" u="none" strike="noStrike">
              <a:solidFill>
                <a:srgbClr val="000000"/>
              </a:solidFill>
              <a:effectLst/>
              <a:uFillTx/>
              <a:latin typeface="Arial"/>
            </a:endParaRPr>
          </a:p>
          <a:p>
            <a:pPr defTabSz="457200">
              <a:lnSpc>
                <a:spcPct val="100000"/>
              </a:lnSpc>
              <a:spcBef>
                <a:spcPts val="1001"/>
              </a:spcBef>
            </a:pPr>
            <a:r>
              <a:rPr lang="en-US" sz="1700" b="0" u="none" strike="noStrike">
                <a:solidFill>
                  <a:srgbClr val="1A1A1A"/>
                </a:solidFill>
                <a:effectLst/>
                <a:uFillTx/>
                <a:latin typeface="Calibri"/>
              </a:rPr>
              <a:t>• Chiffrement de bout en bout : L'application Android chiffre les données de diagnostic avant transmission vers l'API Cloud (HTTPS / mTLS / JWT à durée limitée).</a:t>
            </a:r>
            <a:endParaRPr lang="en-US" sz="1700" b="0" u="none" strike="noStrike">
              <a:solidFill>
                <a:srgbClr val="000000"/>
              </a:solidFill>
              <a:effectLst/>
              <a:uFillTx/>
              <a:latin typeface="Arial"/>
            </a:endParaRPr>
          </a:p>
        </p:txBody>
      </p:sp>
      <p:sp>
        <p:nvSpPr>
          <p:cNvPr id="89" name="Rectangle 6"/>
          <p:cNvSpPr/>
          <p:nvPr/>
        </p:nvSpPr>
        <p:spPr>
          <a:xfrm>
            <a:off x="1097280" y="4114800"/>
            <a:ext cx="9966600" cy="2468520"/>
          </a:xfrm>
          <a:prstGeom prst="rect">
            <a:avLst/>
          </a:prstGeom>
          <a:solidFill>
            <a:srgbClr val="EEEEEE"/>
          </a:solidFill>
          <a:ln>
            <a:solidFill>
              <a:srgbClr val="8B00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0" name="TextBox 7"/>
          <p:cNvSpPr/>
          <p:nvPr/>
        </p:nvSpPr>
        <p:spPr>
          <a:xfrm>
            <a:off x="1188720" y="4206240"/>
            <a:ext cx="9783720" cy="15537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endParaRPr lang="en-US" sz="1800" b="0" u="none" strike="noStrike">
              <a:solidFill>
                <a:srgbClr val="000000"/>
              </a:solidFill>
              <a:effectLst/>
              <a:uFillTx/>
              <a:latin typeface="Arial"/>
            </a:endParaRPr>
          </a:p>
          <a:p>
            <a:pPr algn="ctr" defTabSz="457200">
              <a:lnSpc>
                <a:spcPct val="100000"/>
              </a:lnSpc>
            </a:pPr>
            <a:r>
              <a:rPr lang="en-US" sz="1600" b="1" u="none" strike="noStrike">
                <a:solidFill>
                  <a:srgbClr val="8B0000"/>
                </a:solidFill>
                <a:effectLst/>
                <a:uFillTx/>
                <a:latin typeface="Calibri"/>
              </a:rPr>
              <a:t>Schéma d'Architecture Sécurisée (Flux de données)</a:t>
            </a:r>
            <a:endParaRPr lang="en-US" sz="1600" b="0" u="none" strike="noStrike">
              <a:solidFill>
                <a:srgbClr val="000000"/>
              </a:solidFill>
              <a:effectLst/>
              <a:uFillTx/>
              <a:latin typeface="Arial"/>
            </a:endParaRPr>
          </a:p>
          <a:p>
            <a:pPr algn="ctr" defTabSz="457200">
              <a:lnSpc>
                <a:spcPct val="100000"/>
              </a:lnSpc>
              <a:spcBef>
                <a:spcPts val="1199"/>
              </a:spcBef>
            </a:pPr>
            <a:r>
              <a:rPr lang="en-US" sz="1400" b="0" u="none" strike="noStrike">
                <a:solidFill>
                  <a:srgbClr val="1A1A1A"/>
                </a:solidFill>
                <a:effectLst/>
                <a:uFillTx/>
                <a:latin typeface="Calibri"/>
              </a:rPr>
              <a:t>[Bus CAN - vcan0]  ---(Lecture seule / Filtrage ID)---&gt;  [ELM327-emulator Python :35000]</a:t>
            </a:r>
            <a:endParaRPr lang="en-US" sz="1400" b="0" u="none" strike="noStrike">
              <a:solidFill>
                <a:srgbClr val="000000"/>
              </a:solidFill>
              <a:effectLst/>
              <a:uFillTx/>
              <a:latin typeface="Arial"/>
            </a:endParaRPr>
          </a:p>
          <a:p>
            <a:pPr algn="ctr" defTabSz="457200">
              <a:lnSpc>
                <a:spcPct val="100000"/>
              </a:lnSpc>
              <a:spcBef>
                <a:spcPts val="601"/>
              </a:spcBef>
            </a:pPr>
            <a:r>
              <a:rPr lang="en-US" sz="1400" b="0" u="none" strike="noStrike">
                <a:solidFill>
                  <a:srgbClr val="1A1A1A"/>
                </a:solidFill>
                <a:effectLst/>
                <a:uFillTx/>
                <a:latin typeface="Calibri"/>
              </a:rPr>
              <a:t>[ELM327-emulator]  ---(TCP Socket TLS 1.3 / mTLS)---&gt;  [App Car Scanner - AVD Android Studio]</a:t>
            </a:r>
            <a:endParaRPr lang="en-US" sz="1400" b="0" u="none" strike="noStrike">
              <a:solidFill>
                <a:srgbClr val="000000"/>
              </a:solidFill>
              <a:effectLst/>
              <a:uFillTx/>
              <a:latin typeface="Arial"/>
            </a:endParaRPr>
          </a:p>
          <a:p>
            <a:pPr algn="ctr" defTabSz="457200">
              <a:lnSpc>
                <a:spcPct val="100000"/>
              </a:lnSpc>
              <a:spcBef>
                <a:spcPts val="601"/>
              </a:spcBef>
            </a:pPr>
            <a:r>
              <a:rPr lang="en-US" sz="1400" b="0" u="none" strike="noStrike">
                <a:solidFill>
                  <a:srgbClr val="1A1A1A"/>
                </a:solidFill>
                <a:effectLst/>
                <a:uFillTx/>
                <a:latin typeface="Calibri"/>
              </a:rPr>
              <a:t>[App Car Scanner]  ---(HTTPS / mTLS / JWT)---&gt;  [API Cloud Backend]</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Rectangle 1"/>
          <p:cNvSpPr/>
          <p:nvPr/>
        </p:nvSpPr>
        <p:spPr>
          <a:xfrm>
            <a:off x="0" y="0"/>
            <a:ext cx="12191400" cy="6857640"/>
          </a:xfrm>
          <a:prstGeom prst="rect">
            <a:avLst/>
          </a:prstGeom>
          <a:solidFill>
            <a:srgbClr val="8B00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2" name="Rectangle 2"/>
          <p:cNvSpPr/>
          <p:nvPr/>
        </p:nvSpPr>
        <p:spPr>
          <a:xfrm>
            <a:off x="0" y="0"/>
            <a:ext cx="273960" cy="6857640"/>
          </a:xfrm>
          <a:prstGeom prst="rect">
            <a:avLst/>
          </a:prstGeom>
          <a:solidFill>
            <a:srgbClr val="E05C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3" name="TextBox 3"/>
          <p:cNvSpPr/>
          <p:nvPr/>
        </p:nvSpPr>
        <p:spPr>
          <a:xfrm>
            <a:off x="731520" y="1828800"/>
            <a:ext cx="5486040" cy="4568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600" b="1" u="none" strike="noStrike">
                <a:solidFill>
                  <a:srgbClr val="E05C2A"/>
                </a:solidFill>
                <a:effectLst/>
                <a:uFillTx/>
                <a:latin typeface="Calibri"/>
              </a:rPr>
              <a:t>P H A S E   2</a:t>
            </a:r>
            <a:endParaRPr lang="en-US" sz="1600" b="0" u="none" strike="noStrike">
              <a:solidFill>
                <a:srgbClr val="000000"/>
              </a:solidFill>
              <a:effectLst/>
              <a:uFillTx/>
              <a:latin typeface="Arial"/>
            </a:endParaRPr>
          </a:p>
        </p:txBody>
      </p:sp>
      <p:sp>
        <p:nvSpPr>
          <p:cNvPr id="94" name="TextBox 4"/>
          <p:cNvSpPr/>
          <p:nvPr/>
        </p:nvSpPr>
        <p:spPr>
          <a:xfrm>
            <a:off x="731520" y="2560320"/>
            <a:ext cx="10515240" cy="16455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5000" b="1" u="none" strike="noStrike">
                <a:solidFill>
                  <a:srgbClr val="FFFFFF"/>
                </a:solidFill>
                <a:effectLst/>
                <a:uFillTx/>
                <a:latin typeface="Calibri"/>
              </a:rPr>
              <a:t>Émulation et Reconnaissance</a:t>
            </a:r>
            <a:endParaRPr lang="en-US" sz="5000" b="0" u="none" strike="noStrike">
              <a:solidFill>
                <a:srgbClr val="000000"/>
              </a:solidFill>
              <a:effectLst/>
              <a:uFillTx/>
              <a:latin typeface="Arial"/>
            </a:endParaRPr>
          </a:p>
        </p:txBody>
      </p:sp>
      <p:sp>
        <p:nvSpPr>
          <p:cNvPr id="95" name="Rectangle 5"/>
          <p:cNvSpPr/>
          <p:nvPr/>
        </p:nvSpPr>
        <p:spPr>
          <a:xfrm>
            <a:off x="731520" y="4297680"/>
            <a:ext cx="1828440" cy="45360"/>
          </a:xfrm>
          <a:prstGeom prst="rect">
            <a:avLst/>
          </a:prstGeom>
          <a:solidFill>
            <a:srgbClr val="E05C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p>
            <a:endParaRPr lang="en-US" sz="1800" b="0" u="none" strike="noStrik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Rectangle 1"/>
          <p:cNvSpPr/>
          <p:nvPr/>
        </p:nvSpPr>
        <p:spPr>
          <a:xfrm>
            <a:off x="0" y="0"/>
            <a:ext cx="12191400" cy="6857640"/>
          </a:xfrm>
          <a:prstGeom prst="rect">
            <a:avLst/>
          </a:prstGeom>
          <a:solidFill>
            <a:srgbClr val="FFF5E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7" name="Rectangle 2"/>
          <p:cNvSpPr/>
          <p:nvPr/>
        </p:nvSpPr>
        <p:spPr>
          <a:xfrm>
            <a:off x="0" y="0"/>
            <a:ext cx="273960" cy="6857640"/>
          </a:xfrm>
          <a:prstGeom prst="rect">
            <a:avLst/>
          </a:prstGeom>
          <a:solidFill>
            <a:srgbClr val="E05C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8" name="Rectangle 3"/>
          <p:cNvSpPr/>
          <p:nvPr/>
        </p:nvSpPr>
        <p:spPr>
          <a:xfrm>
            <a:off x="0" y="274320"/>
            <a:ext cx="12191400" cy="914040"/>
          </a:xfrm>
          <a:prstGeom prst="rect">
            <a:avLst/>
          </a:prstGeom>
          <a:solidFill>
            <a:srgbClr val="8B00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9" name="TextBox 4"/>
          <p:cNvSpPr/>
          <p:nvPr/>
        </p:nvSpPr>
        <p:spPr>
          <a:xfrm>
            <a:off x="457200" y="274320"/>
            <a:ext cx="11277000" cy="91404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100000"/>
              </a:lnSpc>
            </a:pPr>
            <a:r>
              <a:rPr lang="en-US" sz="3000" b="1" u="none" strike="noStrike">
                <a:solidFill>
                  <a:srgbClr val="FFFFFF"/>
                </a:solidFill>
                <a:effectLst/>
                <a:uFillTx/>
                <a:latin typeface="Calibri"/>
              </a:rPr>
              <a:t>Émulation &amp; Reconnaissance : Commandes Kali Linux</a:t>
            </a:r>
            <a:endParaRPr lang="en-US" sz="3000" b="0" u="none" strike="noStrike">
              <a:solidFill>
                <a:srgbClr val="000000"/>
              </a:solidFill>
              <a:effectLst/>
              <a:uFillTx/>
              <a:latin typeface="Arial"/>
            </a:endParaRPr>
          </a:p>
        </p:txBody>
      </p:sp>
      <p:sp>
        <p:nvSpPr>
          <p:cNvPr id="100" name="TextBox 5"/>
          <p:cNvSpPr/>
          <p:nvPr/>
        </p:nvSpPr>
        <p:spPr>
          <a:xfrm>
            <a:off x="548640" y="1371600"/>
            <a:ext cx="11063880" cy="48790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endParaRPr lang="en-US" sz="100" b="0" u="none" strike="noStrike">
              <a:solidFill>
                <a:srgbClr val="000000"/>
              </a:solidFill>
              <a:effectLst/>
              <a:uFillTx/>
              <a:latin typeface="Arial"/>
            </a:endParaRPr>
          </a:p>
          <a:p>
            <a:pPr defTabSz="457200">
              <a:lnSpc>
                <a:spcPct val="100000"/>
              </a:lnSpc>
            </a:pPr>
            <a:r>
              <a:rPr lang="en-US" sz="2000" b="1" u="none" strike="noStrike">
                <a:solidFill>
                  <a:srgbClr val="1A1A1A"/>
                </a:solidFill>
                <a:effectLst/>
                <a:uFillTx/>
                <a:latin typeface="Calibri"/>
              </a:rPr>
              <a:t>1. Reverse Engineering de l'APK Android</a:t>
            </a:r>
            <a:endParaRPr lang="en-US" sz="2000" b="0" u="none" strike="noStrike">
              <a:solidFill>
                <a:srgbClr val="000000"/>
              </a:solidFill>
              <a:effectLst/>
              <a:uFillTx/>
              <a:latin typeface="Arial"/>
            </a:endParaRPr>
          </a:p>
          <a:p>
            <a:pPr defTabSz="457200">
              <a:lnSpc>
                <a:spcPct val="100000"/>
              </a:lnSpc>
              <a:spcBef>
                <a:spcPts val="400"/>
              </a:spcBef>
            </a:pPr>
            <a:r>
              <a:rPr lang="en-US" sz="1600" b="0" u="none" strike="noStrike">
                <a:solidFill>
                  <a:srgbClr val="006E00"/>
                </a:solidFill>
                <a:effectLst/>
                <a:uFillTx/>
                <a:latin typeface="Courier New"/>
              </a:rPr>
              <a:t>$ jadx-gui car-scanner-elm-obd2.apk</a:t>
            </a:r>
            <a:endParaRPr lang="en-US" sz="1600" b="0" u="none" strike="noStrike">
              <a:solidFill>
                <a:srgbClr val="000000"/>
              </a:solidFill>
              <a:effectLst/>
              <a:uFillTx/>
              <a:latin typeface="Arial"/>
            </a:endParaRPr>
          </a:p>
          <a:p>
            <a:pPr defTabSz="457200">
              <a:lnSpc>
                <a:spcPct val="100000"/>
              </a:lnSpc>
              <a:spcBef>
                <a:spcPts val="400"/>
              </a:spcBef>
            </a:pPr>
            <a:r>
              <a:rPr lang="en-US" sz="1600" b="0" u="none" strike="noStrike">
                <a:solidFill>
                  <a:srgbClr val="006E00"/>
                </a:solidFill>
                <a:effectLst/>
                <a:uFillTx/>
                <a:latin typeface="Courier New"/>
              </a:rPr>
              <a:t>$ apktool d car-scanner-elm-obd2.apk -o car_scanner_decompiled</a:t>
            </a:r>
            <a:endParaRPr lang="en-US" sz="1600" b="0" u="none" strike="noStrike">
              <a:solidFill>
                <a:srgbClr val="000000"/>
              </a:solidFill>
              <a:effectLst/>
              <a:uFillTx/>
              <a:latin typeface="Arial"/>
            </a:endParaRPr>
          </a:p>
          <a:p>
            <a:pPr defTabSz="457200">
              <a:lnSpc>
                <a:spcPct val="100000"/>
              </a:lnSpc>
              <a:spcBef>
                <a:spcPts val="1599"/>
              </a:spcBef>
            </a:pPr>
            <a:r>
              <a:rPr lang="en-US" sz="2000" b="1" u="none" strike="noStrike">
                <a:solidFill>
                  <a:srgbClr val="1A1A1A"/>
                </a:solidFill>
                <a:effectLst/>
                <a:uFillTx/>
                <a:latin typeface="Calibri"/>
              </a:rPr>
              <a:t>2. Mise en place du Bus CAN virtuel (vcan0)</a:t>
            </a:r>
            <a:endParaRPr lang="en-US" sz="2000" b="0" u="none" strike="noStrike">
              <a:solidFill>
                <a:srgbClr val="000000"/>
              </a:solidFill>
              <a:effectLst/>
              <a:uFillTx/>
              <a:latin typeface="Arial"/>
            </a:endParaRPr>
          </a:p>
          <a:p>
            <a:pPr defTabSz="457200">
              <a:lnSpc>
                <a:spcPct val="100000"/>
              </a:lnSpc>
              <a:spcBef>
                <a:spcPts val="400"/>
              </a:spcBef>
            </a:pPr>
            <a:r>
              <a:rPr lang="en-US" sz="1600" b="0" u="none" strike="noStrike">
                <a:solidFill>
                  <a:srgbClr val="006E00"/>
                </a:solidFill>
                <a:effectLst/>
                <a:uFillTx/>
                <a:latin typeface="Courier New"/>
              </a:rPr>
              <a:t>$ sudo modprobe vcan</a:t>
            </a:r>
            <a:endParaRPr lang="en-US" sz="1600" b="0" u="none" strike="noStrike">
              <a:solidFill>
                <a:srgbClr val="000000"/>
              </a:solidFill>
              <a:effectLst/>
              <a:uFillTx/>
              <a:latin typeface="Arial"/>
            </a:endParaRPr>
          </a:p>
          <a:p>
            <a:pPr defTabSz="457200">
              <a:lnSpc>
                <a:spcPct val="100000"/>
              </a:lnSpc>
              <a:spcBef>
                <a:spcPts val="400"/>
              </a:spcBef>
            </a:pPr>
            <a:r>
              <a:rPr lang="en-US" sz="1600" b="0" u="none" strike="noStrike">
                <a:solidFill>
                  <a:srgbClr val="006E00"/>
                </a:solidFill>
                <a:effectLst/>
                <a:uFillTx/>
                <a:latin typeface="Courier New"/>
              </a:rPr>
              <a:t>$ sudo ip link add dev vcan0 type vcan &amp;&amp; sudo ip link set up vcan0</a:t>
            </a:r>
            <a:endParaRPr lang="en-US" sz="1600" b="0" u="none" strike="noStrike">
              <a:solidFill>
                <a:srgbClr val="000000"/>
              </a:solidFill>
              <a:effectLst/>
              <a:uFillTx/>
              <a:latin typeface="Arial"/>
            </a:endParaRPr>
          </a:p>
          <a:p>
            <a:pPr defTabSz="457200">
              <a:lnSpc>
                <a:spcPct val="100000"/>
              </a:lnSpc>
              <a:spcBef>
                <a:spcPts val="1599"/>
              </a:spcBef>
            </a:pPr>
            <a:r>
              <a:rPr lang="en-US" sz="2000" b="1" u="none" strike="noStrike">
                <a:solidFill>
                  <a:srgbClr val="1A1A1A"/>
                </a:solidFill>
                <a:effectLst/>
                <a:uFillTx/>
                <a:latin typeface="Calibri"/>
              </a:rPr>
              <a:t>3. Lancement de l'émulateur ELM327 en mode TCP/IP</a:t>
            </a:r>
            <a:endParaRPr lang="en-US" sz="2000" b="0" u="none" strike="noStrike">
              <a:solidFill>
                <a:srgbClr val="000000"/>
              </a:solidFill>
              <a:effectLst/>
              <a:uFillTx/>
              <a:latin typeface="Arial"/>
            </a:endParaRPr>
          </a:p>
          <a:p>
            <a:pPr defTabSz="457200">
              <a:lnSpc>
                <a:spcPct val="100000"/>
              </a:lnSpc>
              <a:spcBef>
                <a:spcPts val="400"/>
              </a:spcBef>
            </a:pPr>
            <a:r>
              <a:rPr lang="en-US" sz="1600" b="0" u="none" strike="noStrike">
                <a:solidFill>
                  <a:srgbClr val="006E00"/>
                </a:solidFill>
                <a:effectLst/>
                <a:uFillTx/>
                <a:latin typeface="Courier New"/>
              </a:rPr>
              <a:t>$ git clone https://github.com/Ircama/ELM327-emulator.git</a:t>
            </a:r>
            <a:endParaRPr lang="en-US" sz="1600" b="0" u="none" strike="noStrike">
              <a:solidFill>
                <a:srgbClr val="000000"/>
              </a:solidFill>
              <a:effectLst/>
              <a:uFillTx/>
              <a:latin typeface="Arial"/>
            </a:endParaRPr>
          </a:p>
          <a:p>
            <a:pPr defTabSz="457200">
              <a:lnSpc>
                <a:spcPct val="100000"/>
              </a:lnSpc>
              <a:spcBef>
                <a:spcPts val="400"/>
              </a:spcBef>
            </a:pPr>
            <a:r>
              <a:rPr lang="en-US" sz="1600" b="0" u="none" strike="noStrike">
                <a:solidFill>
                  <a:srgbClr val="006E00"/>
                </a:solidFill>
                <a:effectLst/>
                <a:uFillTx/>
                <a:latin typeface="Courier New"/>
              </a:rPr>
              <a:t>$ cd ELM327-emulator &amp;&amp; pip3 install -r requirements.txt</a:t>
            </a:r>
            <a:endParaRPr lang="en-US" sz="1600" b="0" u="none" strike="noStrike">
              <a:solidFill>
                <a:srgbClr val="000000"/>
              </a:solidFill>
              <a:effectLst/>
              <a:uFillTx/>
              <a:latin typeface="Arial"/>
            </a:endParaRPr>
          </a:p>
          <a:p>
            <a:pPr defTabSz="457200">
              <a:lnSpc>
                <a:spcPct val="100000"/>
              </a:lnSpc>
              <a:spcBef>
                <a:spcPts val="400"/>
              </a:spcBef>
            </a:pPr>
            <a:r>
              <a:rPr lang="en-US" sz="1600" b="0" u="none" strike="noStrike">
                <a:solidFill>
                  <a:srgbClr val="006E00"/>
                </a:solidFill>
                <a:effectLst/>
                <a:uFillTx/>
                <a:latin typeface="Courier New"/>
              </a:rPr>
              <a:t>$ python3 elm327_emulator.py --serial tcp --port 35000 --can vcan0</a:t>
            </a:r>
            <a:endParaRPr lang="en-US" sz="1600" b="0" u="none" strike="noStrike">
              <a:solidFill>
                <a:srgbClr val="000000"/>
              </a:solidFill>
              <a:effectLst/>
              <a:uFillTx/>
              <a:latin typeface="Arial"/>
            </a:endParaRPr>
          </a:p>
          <a:p>
            <a:pPr defTabSz="457200">
              <a:lnSpc>
                <a:spcPct val="100000"/>
              </a:lnSpc>
              <a:spcBef>
                <a:spcPts val="400"/>
              </a:spcBef>
            </a:pPr>
            <a:r>
              <a:rPr lang="en-US" sz="1600" b="0" u="none" strike="noStrike">
                <a:solidFill>
                  <a:srgbClr val="006E00"/>
                </a:solidFill>
                <a:effectLst/>
                <a:uFillTx/>
                <a:latin typeface="Courier New"/>
              </a:rPr>
              <a:t>$ ss -tlnp | grep 35000</a:t>
            </a:r>
            <a:endParaRPr lang="en-US" sz="1600" b="0" u="none" strike="noStrike">
              <a:solidFill>
                <a:srgbClr val="000000"/>
              </a:solidFill>
              <a:effectLst/>
              <a:uFillTx/>
              <a:latin typeface="Arial"/>
            </a:endParaRPr>
          </a:p>
          <a:p>
            <a:pPr defTabSz="457200">
              <a:lnSpc>
                <a:spcPct val="100000"/>
              </a:lnSpc>
              <a:spcBef>
                <a:spcPts val="1599"/>
              </a:spcBef>
            </a:pPr>
            <a:r>
              <a:rPr lang="en-US" sz="2000" b="1" u="none" strike="noStrike">
                <a:solidFill>
                  <a:srgbClr val="1A1A1A"/>
                </a:solidFill>
                <a:effectLst/>
                <a:uFillTx/>
                <a:latin typeface="Calibri"/>
              </a:rPr>
              <a:t>4. Installation de l'APK sur l'AVD Android Studio</a:t>
            </a:r>
            <a:endParaRPr lang="en-US" sz="2000" b="0" u="none" strike="noStrike">
              <a:solidFill>
                <a:srgbClr val="000000"/>
              </a:solidFill>
              <a:effectLst/>
              <a:uFillTx/>
              <a:latin typeface="Arial"/>
            </a:endParaRPr>
          </a:p>
          <a:p>
            <a:pPr defTabSz="457200">
              <a:lnSpc>
                <a:spcPct val="100000"/>
              </a:lnSpc>
              <a:spcBef>
                <a:spcPts val="400"/>
              </a:spcBef>
            </a:pPr>
            <a:r>
              <a:rPr lang="en-US" sz="1600" b="0" u="none" strike="noStrike">
                <a:solidFill>
                  <a:srgbClr val="006E00"/>
                </a:solidFill>
                <a:effectLst/>
                <a:uFillTx/>
                <a:latin typeface="Courier New"/>
              </a:rPr>
              <a:t>$ adb devices</a:t>
            </a:r>
            <a:endParaRPr lang="en-US" sz="1600" b="0" u="none" strike="noStrike">
              <a:solidFill>
                <a:srgbClr val="000000"/>
              </a:solidFill>
              <a:effectLst/>
              <a:uFillTx/>
              <a:latin typeface="Arial"/>
            </a:endParaRPr>
          </a:p>
          <a:p>
            <a:pPr defTabSz="457200">
              <a:lnSpc>
                <a:spcPct val="100000"/>
              </a:lnSpc>
              <a:spcBef>
                <a:spcPts val="400"/>
              </a:spcBef>
            </a:pPr>
            <a:r>
              <a:rPr lang="en-US" sz="1600" b="0" u="none" strike="noStrike">
                <a:solidFill>
                  <a:srgbClr val="006E00"/>
                </a:solidFill>
                <a:effectLst/>
                <a:uFillTx/>
                <a:latin typeface="Courier New"/>
              </a:rPr>
              <a:t>$ adb install car-scanner-elm-obd2.apk</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Rectangle 1"/>
          <p:cNvSpPr/>
          <p:nvPr/>
        </p:nvSpPr>
        <p:spPr>
          <a:xfrm>
            <a:off x="0" y="0"/>
            <a:ext cx="12191400" cy="6857640"/>
          </a:xfrm>
          <a:prstGeom prst="rect">
            <a:avLst/>
          </a:prstGeom>
          <a:solidFill>
            <a:srgbClr val="FFF5E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2" name="Rectangle 2"/>
          <p:cNvSpPr/>
          <p:nvPr/>
        </p:nvSpPr>
        <p:spPr>
          <a:xfrm>
            <a:off x="0" y="0"/>
            <a:ext cx="273960" cy="6857640"/>
          </a:xfrm>
          <a:prstGeom prst="rect">
            <a:avLst/>
          </a:prstGeom>
          <a:solidFill>
            <a:srgbClr val="E05C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3" name="Rectangle 3"/>
          <p:cNvSpPr/>
          <p:nvPr/>
        </p:nvSpPr>
        <p:spPr>
          <a:xfrm>
            <a:off x="0" y="274320"/>
            <a:ext cx="12191400" cy="914040"/>
          </a:xfrm>
          <a:prstGeom prst="rect">
            <a:avLst/>
          </a:prstGeom>
          <a:solidFill>
            <a:srgbClr val="8B00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4" name="TextBox 4"/>
          <p:cNvSpPr/>
          <p:nvPr/>
        </p:nvSpPr>
        <p:spPr>
          <a:xfrm>
            <a:off x="457200" y="274320"/>
            <a:ext cx="11277000" cy="91404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100000"/>
              </a:lnSpc>
            </a:pPr>
            <a:r>
              <a:rPr lang="en-US" sz="3000" b="1" u="none" strike="noStrike">
                <a:solidFill>
                  <a:srgbClr val="FFFFFF"/>
                </a:solidFill>
                <a:effectLst/>
                <a:uFillTx/>
                <a:latin typeface="Calibri"/>
              </a:rPr>
              <a:t>Cartographie des Assets (Résultats jadx &amp; Wireshark)</a:t>
            </a:r>
            <a:endParaRPr lang="en-US" sz="3000" b="0" u="none" strike="noStrike">
              <a:solidFill>
                <a:srgbClr val="000000"/>
              </a:solidFill>
              <a:effectLst/>
              <a:uFillTx/>
              <a:latin typeface="Arial"/>
            </a:endParaRPr>
          </a:p>
        </p:txBody>
      </p:sp>
      <p:sp>
        <p:nvSpPr>
          <p:cNvPr id="105" name="Rectangle 5"/>
          <p:cNvSpPr/>
          <p:nvPr/>
        </p:nvSpPr>
        <p:spPr>
          <a:xfrm>
            <a:off x="548640" y="1554480"/>
            <a:ext cx="5211720" cy="4571640"/>
          </a:xfrm>
          <a:prstGeom prst="rect">
            <a:avLst/>
          </a:prstGeom>
          <a:solidFill>
            <a:srgbClr val="5C2A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6" name="TextBox 6"/>
          <p:cNvSpPr/>
          <p:nvPr/>
        </p:nvSpPr>
        <p:spPr>
          <a:xfrm>
            <a:off x="685800" y="1691640"/>
            <a:ext cx="4937400" cy="4297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FFFFFF"/>
                </a:solidFill>
                <a:effectLst/>
                <a:uFillTx/>
                <a:latin typeface="Calibri"/>
              </a:rPr>
              <a:t>Endpoints API Cloud Identifiés (jadx)</a:t>
            </a:r>
            <a:endParaRPr lang="en-US" sz="1800" b="0" u="none" strike="noStrike">
              <a:solidFill>
                <a:srgbClr val="000000"/>
              </a:solidFill>
              <a:effectLst/>
              <a:uFillTx/>
              <a:latin typeface="Arial"/>
            </a:endParaRPr>
          </a:p>
          <a:p>
            <a:pPr defTabSz="457200">
              <a:lnSpc>
                <a:spcPct val="100000"/>
              </a:lnSpc>
              <a:spcBef>
                <a:spcPts val="1001"/>
              </a:spcBef>
            </a:pPr>
            <a:r>
              <a:rPr lang="en-US" sz="1500" b="0" u="none" strike="noStrike">
                <a:solidFill>
                  <a:srgbClr val="FFFFFF"/>
                </a:solidFill>
                <a:effectLst/>
                <a:uFillTx/>
                <a:latin typeface="Calibri"/>
              </a:rPr>
              <a:t>• https://api.carscanner.io/v1/telemetry/upload (POST)</a:t>
            </a:r>
            <a:endParaRPr lang="en-US" sz="1500" b="0" u="none" strike="noStrike">
              <a:solidFill>
                <a:srgbClr val="000000"/>
              </a:solidFill>
              <a:effectLst/>
              <a:uFillTx/>
              <a:latin typeface="Arial"/>
            </a:endParaRPr>
          </a:p>
          <a:p>
            <a:pPr defTabSz="457200">
              <a:lnSpc>
                <a:spcPct val="100000"/>
              </a:lnSpc>
              <a:spcBef>
                <a:spcPts val="1001"/>
              </a:spcBef>
            </a:pPr>
            <a:r>
              <a:rPr lang="en-US" sz="1500" b="0" u="none" strike="noStrike">
                <a:solidFill>
                  <a:srgbClr val="FFFFFF"/>
                </a:solidFill>
                <a:effectLst/>
                <a:uFillTx/>
                <a:latin typeface="Calibri"/>
              </a:rPr>
              <a:t>• https://api.carscanner.io/v1/auth/login (POST — Clé API codée en dur dans strings.xml)</a:t>
            </a:r>
            <a:endParaRPr lang="en-US" sz="1500" b="0" u="none" strike="noStrike">
              <a:solidFill>
                <a:srgbClr val="000000"/>
              </a:solidFill>
              <a:effectLst/>
              <a:uFillTx/>
              <a:latin typeface="Arial"/>
            </a:endParaRPr>
          </a:p>
          <a:p>
            <a:pPr defTabSz="457200">
              <a:lnSpc>
                <a:spcPct val="100000"/>
              </a:lnSpc>
              <a:spcBef>
                <a:spcPts val="1001"/>
              </a:spcBef>
            </a:pPr>
            <a:r>
              <a:rPr lang="en-US" sz="1500" b="0" u="none" strike="noStrike">
                <a:solidFill>
                  <a:srgbClr val="FFFFFF"/>
                </a:solidFill>
                <a:effectLst/>
                <a:uFillTx/>
                <a:latin typeface="Calibri"/>
              </a:rPr>
              <a:t>• https://api.carscanner.io/v1/diagnostics/dtc (GET)</a:t>
            </a:r>
            <a:endParaRPr lang="en-US" sz="1500" b="0" u="none" strike="noStrike">
              <a:solidFill>
                <a:srgbClr val="000000"/>
              </a:solidFill>
              <a:effectLst/>
              <a:uFillTx/>
              <a:latin typeface="Arial"/>
            </a:endParaRPr>
          </a:p>
          <a:p>
            <a:pPr defTabSz="457200">
              <a:lnSpc>
                <a:spcPct val="100000"/>
              </a:lnSpc>
              <a:spcBef>
                <a:spcPts val="1001"/>
              </a:spcBef>
            </a:pPr>
            <a:r>
              <a:rPr lang="en-US" sz="1500" b="0" u="none" strike="noStrike">
                <a:solidFill>
                  <a:srgbClr val="FFFFFF"/>
                </a:solidFill>
                <a:effectLst/>
                <a:uFillTx/>
                <a:latin typeface="Calibri"/>
              </a:rPr>
              <a:t>• ws://api.carscanner.io/live (WebSocket non chiffré — wss:// manquant)</a:t>
            </a:r>
            <a:endParaRPr lang="en-US" sz="1500" b="0" u="none" strike="noStrike">
              <a:solidFill>
                <a:srgbClr val="000000"/>
              </a:solidFill>
              <a:effectLst/>
              <a:uFillTx/>
              <a:latin typeface="Arial"/>
            </a:endParaRPr>
          </a:p>
        </p:txBody>
      </p:sp>
      <p:sp>
        <p:nvSpPr>
          <p:cNvPr id="107" name="Rectangle 7"/>
          <p:cNvSpPr/>
          <p:nvPr/>
        </p:nvSpPr>
        <p:spPr>
          <a:xfrm>
            <a:off x="6309360" y="1554480"/>
            <a:ext cx="5394600" cy="4571640"/>
          </a:xfrm>
          <a:prstGeom prst="rect">
            <a:avLst/>
          </a:prstGeom>
          <a:solidFill>
            <a:srgbClr val="1E375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8" name="TextBox 8"/>
          <p:cNvSpPr/>
          <p:nvPr/>
        </p:nvSpPr>
        <p:spPr>
          <a:xfrm>
            <a:off x="6446520" y="1691640"/>
            <a:ext cx="5120280" cy="4297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FFFFFF"/>
                </a:solidFill>
                <a:effectLst/>
                <a:uFillTx/>
                <a:latin typeface="Calibri"/>
              </a:rPr>
              <a:t>Permissions Android Dangereuses (Manifest)</a:t>
            </a:r>
            <a:endParaRPr lang="en-US" sz="1800" b="0" u="none" strike="noStrike">
              <a:solidFill>
                <a:srgbClr val="000000"/>
              </a:solidFill>
              <a:effectLst/>
              <a:uFillTx/>
              <a:latin typeface="Arial"/>
            </a:endParaRPr>
          </a:p>
          <a:p>
            <a:pPr defTabSz="457200">
              <a:lnSpc>
                <a:spcPct val="100000"/>
              </a:lnSpc>
              <a:spcBef>
                <a:spcPts val="1001"/>
              </a:spcBef>
            </a:pPr>
            <a:r>
              <a:rPr lang="en-US" sz="1500" b="0" u="none" strike="noStrike">
                <a:solidFill>
                  <a:srgbClr val="FFFFFF"/>
                </a:solidFill>
                <a:effectLst/>
                <a:uFillTx/>
                <a:latin typeface="Calibri"/>
              </a:rPr>
              <a:t>• android.permission.INTERNET (Accès réseau TCP/IP — centrale pour la communication avec l'émulateur)</a:t>
            </a:r>
            <a:endParaRPr lang="en-US" sz="1500" b="0" u="none" strike="noStrike">
              <a:solidFill>
                <a:srgbClr val="000000"/>
              </a:solidFill>
              <a:effectLst/>
              <a:uFillTx/>
              <a:latin typeface="Arial"/>
            </a:endParaRPr>
          </a:p>
          <a:p>
            <a:pPr defTabSz="457200">
              <a:lnSpc>
                <a:spcPct val="100000"/>
              </a:lnSpc>
              <a:spcBef>
                <a:spcPts val="1001"/>
              </a:spcBef>
            </a:pPr>
            <a:r>
              <a:rPr lang="en-US" sz="1500" b="0" u="none" strike="noStrike">
                <a:solidFill>
                  <a:srgbClr val="FFFFFF"/>
                </a:solidFill>
                <a:effectLst/>
                <a:uFillTx/>
                <a:latin typeface="Calibri"/>
              </a:rPr>
              <a:t>• android.permission.ACCESS_NETWORK_STATE (Surveillance de la connectivité réseau)</a:t>
            </a:r>
            <a:endParaRPr lang="en-US" sz="1500" b="0" u="none" strike="noStrike">
              <a:solidFill>
                <a:srgbClr val="000000"/>
              </a:solidFill>
              <a:effectLst/>
              <a:uFillTx/>
              <a:latin typeface="Arial"/>
            </a:endParaRPr>
          </a:p>
          <a:p>
            <a:pPr defTabSz="457200">
              <a:lnSpc>
                <a:spcPct val="100000"/>
              </a:lnSpc>
              <a:spcBef>
                <a:spcPts val="1001"/>
              </a:spcBef>
            </a:pPr>
            <a:r>
              <a:rPr lang="en-US" sz="1500" b="0" u="none" strike="noStrike">
                <a:solidFill>
                  <a:srgbClr val="FFFFFF"/>
                </a:solidFill>
                <a:effectLst/>
                <a:uFillTx/>
                <a:latin typeface="Calibri"/>
              </a:rPr>
              <a:t>• android.permission.READ_EXTERNAL_STORAGE (Accès aux logs locaux non chiffrés)</a:t>
            </a:r>
            <a:endParaRPr lang="en-US" sz="1500" b="0" u="none" strike="noStrike">
              <a:solidFill>
                <a:srgbClr val="000000"/>
              </a:solidFill>
              <a:effectLst/>
              <a:uFillTx/>
              <a:latin typeface="Arial"/>
            </a:endParaRPr>
          </a:p>
          <a:p>
            <a:pPr defTabSz="457200">
              <a:lnSpc>
                <a:spcPct val="100000"/>
              </a:lnSpc>
              <a:spcBef>
                <a:spcPts val="1001"/>
              </a:spcBef>
            </a:pPr>
            <a:r>
              <a:rPr lang="en-US" sz="1500" b="0" u="none" strike="noStrike">
                <a:solidFill>
                  <a:srgbClr val="FFFFFF"/>
                </a:solidFill>
                <a:effectLst/>
                <a:uFillTx/>
                <a:latin typeface="Calibri"/>
              </a:rPr>
              <a:t>• Trafic TCP en clair intercepté par tcpdump/Wireshark sur le réseau local (aucun TLS)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Rectangle 1"/>
          <p:cNvSpPr/>
          <p:nvPr/>
        </p:nvSpPr>
        <p:spPr>
          <a:xfrm>
            <a:off x="0" y="0"/>
            <a:ext cx="12191400" cy="6857640"/>
          </a:xfrm>
          <a:prstGeom prst="rect">
            <a:avLst/>
          </a:prstGeom>
          <a:solidFill>
            <a:srgbClr val="8B00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0" name="Rectangle 2"/>
          <p:cNvSpPr/>
          <p:nvPr/>
        </p:nvSpPr>
        <p:spPr>
          <a:xfrm>
            <a:off x="0" y="0"/>
            <a:ext cx="273960" cy="6857640"/>
          </a:xfrm>
          <a:prstGeom prst="rect">
            <a:avLst/>
          </a:prstGeom>
          <a:solidFill>
            <a:srgbClr val="E05C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1" name="TextBox 3"/>
          <p:cNvSpPr/>
          <p:nvPr/>
        </p:nvSpPr>
        <p:spPr>
          <a:xfrm>
            <a:off x="731520" y="1828800"/>
            <a:ext cx="5486040" cy="4568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600" b="1" u="none" strike="noStrike">
                <a:solidFill>
                  <a:srgbClr val="E05C2A"/>
                </a:solidFill>
                <a:effectLst/>
                <a:uFillTx/>
                <a:latin typeface="Calibri"/>
              </a:rPr>
              <a:t>P H A S E   3</a:t>
            </a:r>
            <a:endParaRPr lang="en-US" sz="1600" b="0" u="none" strike="noStrike">
              <a:solidFill>
                <a:srgbClr val="000000"/>
              </a:solidFill>
              <a:effectLst/>
              <a:uFillTx/>
              <a:latin typeface="Arial"/>
            </a:endParaRPr>
          </a:p>
        </p:txBody>
      </p:sp>
      <p:sp>
        <p:nvSpPr>
          <p:cNvPr id="112" name="TextBox 4"/>
          <p:cNvSpPr/>
          <p:nvPr/>
        </p:nvSpPr>
        <p:spPr>
          <a:xfrm>
            <a:off x="731520" y="2560320"/>
            <a:ext cx="10515240" cy="16455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5000" b="1" u="none" strike="noStrike">
                <a:solidFill>
                  <a:srgbClr val="FFFFFF"/>
                </a:solidFill>
                <a:effectLst/>
                <a:uFillTx/>
                <a:latin typeface="Calibri"/>
              </a:rPr>
              <a:t>Analyse de la surface d'attaque &amp; Threat Model</a:t>
            </a:r>
            <a:endParaRPr lang="en-US" sz="5000" b="0" u="none" strike="noStrike">
              <a:solidFill>
                <a:srgbClr val="000000"/>
              </a:solidFill>
              <a:effectLst/>
              <a:uFillTx/>
              <a:latin typeface="Arial"/>
            </a:endParaRPr>
          </a:p>
        </p:txBody>
      </p:sp>
      <p:sp>
        <p:nvSpPr>
          <p:cNvPr id="113" name="Rectangle 5"/>
          <p:cNvSpPr/>
          <p:nvPr/>
        </p:nvSpPr>
        <p:spPr>
          <a:xfrm>
            <a:off x="731520" y="4297680"/>
            <a:ext cx="1828440" cy="45360"/>
          </a:xfrm>
          <a:prstGeom prst="rect">
            <a:avLst/>
          </a:prstGeom>
          <a:solidFill>
            <a:srgbClr val="E05C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p>
            <a:endParaRPr lang="en-US" sz="1800" b="0" u="none" strike="noStrik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Rectangle 1"/>
          <p:cNvSpPr/>
          <p:nvPr/>
        </p:nvSpPr>
        <p:spPr>
          <a:xfrm>
            <a:off x="0" y="0"/>
            <a:ext cx="12191400" cy="6857640"/>
          </a:xfrm>
          <a:prstGeom prst="rect">
            <a:avLst/>
          </a:prstGeom>
          <a:solidFill>
            <a:srgbClr val="FFF5E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5" name="Rectangle 2"/>
          <p:cNvSpPr/>
          <p:nvPr/>
        </p:nvSpPr>
        <p:spPr>
          <a:xfrm>
            <a:off x="0" y="0"/>
            <a:ext cx="273960" cy="6857640"/>
          </a:xfrm>
          <a:prstGeom prst="rect">
            <a:avLst/>
          </a:prstGeom>
          <a:solidFill>
            <a:srgbClr val="E05C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6" name="Rectangle 3"/>
          <p:cNvSpPr/>
          <p:nvPr/>
        </p:nvSpPr>
        <p:spPr>
          <a:xfrm>
            <a:off x="0" y="274320"/>
            <a:ext cx="12191400" cy="914040"/>
          </a:xfrm>
          <a:prstGeom prst="rect">
            <a:avLst/>
          </a:prstGeom>
          <a:solidFill>
            <a:srgbClr val="8B00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7" name="TextBox 4"/>
          <p:cNvSpPr/>
          <p:nvPr/>
        </p:nvSpPr>
        <p:spPr>
          <a:xfrm>
            <a:off x="457200" y="274320"/>
            <a:ext cx="11277000" cy="91404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100000"/>
              </a:lnSpc>
            </a:pPr>
            <a:r>
              <a:rPr lang="en-US" sz="3000" b="1" u="none" strike="noStrike">
                <a:solidFill>
                  <a:srgbClr val="FFFFFF"/>
                </a:solidFill>
                <a:effectLst/>
                <a:uFillTx/>
                <a:latin typeface="Calibri"/>
              </a:rPr>
              <a:t>Modélisation des Menaces — Méthode STRIDE</a:t>
            </a:r>
            <a:endParaRPr lang="en-US" sz="3000" b="0" u="none" strike="noStrike">
              <a:solidFill>
                <a:srgbClr val="000000"/>
              </a:solidFill>
              <a:effectLst/>
              <a:uFillTx/>
              <a:latin typeface="Arial"/>
            </a:endParaRPr>
          </a:p>
        </p:txBody>
      </p:sp>
      <p:graphicFrame>
        <p:nvGraphicFramePr>
          <p:cNvPr id="118" name="Table 5"/>
          <p:cNvGraphicFramePr/>
          <p:nvPr/>
        </p:nvGraphicFramePr>
        <p:xfrm>
          <a:off x="457200" y="1371600"/>
          <a:ext cx="11246760" cy="5211720"/>
        </p:xfrm>
        <a:graphic>
          <a:graphicData uri="http://schemas.openxmlformats.org/drawingml/2006/table">
            <a:tbl>
              <a:tblPr/>
              <a:tblGrid>
                <a:gridCol w="2286000"/>
                <a:gridCol w="6675120"/>
                <a:gridCol w="2286000"/>
              </a:tblGrid>
              <a:tr h="744480">
                <a:tc>
                  <a:txBody>
                    <a:bodyPr anchor="t">
                      <a:noAutofit/>
                    </a:bodyPr>
                    <a:p>
                      <a:pPr defTabSz="457200">
                        <a:lnSpc>
                          <a:spcPct val="100000"/>
                        </a:lnSpc>
                      </a:pPr>
                      <a:r>
                        <a:rPr lang="en-US" sz="1700" b="1" u="none" strike="noStrike">
                          <a:solidFill>
                            <a:srgbClr val="FFFFFF"/>
                          </a:solidFill>
                          <a:effectLst/>
                          <a:uFillTx/>
                          <a:latin typeface="Calibri"/>
                        </a:rPr>
                        <a:t>Catégorie STRIDE</a:t>
                      </a:r>
                      <a:endParaRPr lang="en-US" sz="17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8B0000"/>
                    </a:solidFill>
                  </a:tcPr>
                </a:tc>
                <a:tc>
                  <a:txBody>
                    <a:bodyPr anchor="t">
                      <a:noAutofit/>
                    </a:bodyPr>
                    <a:p>
                      <a:pPr defTabSz="457200">
                        <a:lnSpc>
                          <a:spcPct val="100000"/>
                        </a:lnSpc>
                      </a:pPr>
                      <a:r>
                        <a:rPr lang="en-US" sz="1700" b="1" u="none" strike="noStrike">
                          <a:solidFill>
                            <a:srgbClr val="FFFFFF"/>
                          </a:solidFill>
                          <a:effectLst/>
                          <a:uFillTx/>
                          <a:latin typeface="Calibri"/>
                        </a:rPr>
                        <a:t>Description de la Menace</a:t>
                      </a:r>
                      <a:endParaRPr lang="en-US" sz="17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8B0000"/>
                    </a:solidFill>
                  </a:tcPr>
                </a:tc>
                <a:tc>
                  <a:txBody>
                    <a:bodyPr anchor="t">
                      <a:noAutofit/>
                    </a:bodyPr>
                    <a:p>
                      <a:pPr defTabSz="457200">
                        <a:lnSpc>
                          <a:spcPct val="100000"/>
                        </a:lnSpc>
                      </a:pPr>
                      <a:r>
                        <a:rPr lang="en-US" sz="1700" b="1" u="none" strike="noStrike">
                          <a:solidFill>
                            <a:srgbClr val="FFFFFF"/>
                          </a:solidFill>
                          <a:effectLst/>
                          <a:uFillTx/>
                          <a:latin typeface="Calibri"/>
                        </a:rPr>
                        <a:t>Composant Ciblé</a:t>
                      </a:r>
                      <a:endParaRPr lang="en-US" sz="17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8B0000"/>
                    </a:solidFill>
                  </a:tcPr>
                </a:tc>
              </a:tr>
              <a:tr h="744480">
                <a:tc>
                  <a:txBody>
                    <a:bodyPr anchor="t">
                      <a:noAutofit/>
                    </a:bodyPr>
                    <a:p>
                      <a:pPr defTabSz="457200">
                        <a:lnSpc>
                          <a:spcPct val="100000"/>
                        </a:lnSpc>
                      </a:pPr>
                      <a:r>
                        <a:rPr lang="en-US" sz="1300" b="0" u="none" strike="noStrike">
                          <a:solidFill>
                            <a:srgbClr val="1A1A1A"/>
                          </a:solidFill>
                          <a:effectLst/>
                          <a:uFillTx/>
                          <a:latin typeface="Calibri"/>
                        </a:rPr>
                        <a:t>Spoofing (Usurpation)</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300" b="0" u="none" strike="noStrike">
                          <a:solidFill>
                            <a:srgbClr val="1A1A1A"/>
                          </a:solidFill>
                          <a:effectLst/>
                          <a:uFillTx/>
                          <a:latin typeface="Calibri"/>
                        </a:rPr>
                        <a:t>ARP Poisoning sur le réseau local pour usurper l'IP de l'émulateur ELM327 et intercepter les connexions TCP de l'AVD.</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300" b="0" u="none" strike="noStrike">
                          <a:solidFill>
                            <a:srgbClr val="1A1A1A"/>
                          </a:solidFill>
                          <a:effectLst/>
                          <a:uFillTx/>
                          <a:latin typeface="Calibri"/>
                        </a:rPr>
                        <a:t>Réseau TCP / Émulateur ELM327</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744480">
                <a:tc>
                  <a:txBody>
                    <a:bodyPr anchor="t">
                      <a:noAutofit/>
                    </a:bodyPr>
                    <a:p>
                      <a:pPr defTabSz="457200">
                        <a:lnSpc>
                          <a:spcPct val="100000"/>
                        </a:lnSpc>
                      </a:pPr>
                      <a:r>
                        <a:rPr lang="en-US" sz="1300" b="0" u="none" strike="noStrike">
                          <a:solidFill>
                            <a:srgbClr val="1A1A1A"/>
                          </a:solidFill>
                          <a:effectLst/>
                          <a:uFillTx/>
                          <a:latin typeface="Calibri"/>
                        </a:rPr>
                        <a:t>Tampering (Altération)</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c>
                  <a:txBody>
                    <a:bodyPr anchor="t">
                      <a:noAutofit/>
                    </a:bodyPr>
                    <a:p>
                      <a:pPr defTabSz="457200">
                        <a:lnSpc>
                          <a:spcPct val="100000"/>
                        </a:lnSpc>
                      </a:pPr>
                      <a:r>
                        <a:rPr lang="en-US" sz="1300" b="0" u="none" strike="noStrike">
                          <a:solidFill>
                            <a:srgbClr val="1A1A1A"/>
                          </a:solidFill>
                          <a:effectLst/>
                          <a:uFillTx/>
                          <a:latin typeface="Calibri"/>
                        </a:rPr>
                        <a:t>Injection de commandes OBD2 malveillantes via Man-in-the-Middle TCP (ex: forcer l'effacement des DTC, modifier les paramètres moteur via le bus CAN).</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c>
                  <a:txBody>
                    <a:bodyPr anchor="t">
                      <a:noAutofit/>
                    </a:bodyPr>
                    <a:p>
                      <a:pPr defTabSz="457200">
                        <a:lnSpc>
                          <a:spcPct val="100000"/>
                        </a:lnSpc>
                      </a:pPr>
                      <a:r>
                        <a:rPr lang="en-US" sz="1300" b="0" u="none" strike="noStrike">
                          <a:solidFill>
                            <a:srgbClr val="1A1A1A"/>
                          </a:solidFill>
                          <a:effectLst/>
                          <a:uFillTx/>
                          <a:latin typeface="Calibri"/>
                        </a:rPr>
                        <a:t>Socket TCP / Bus CAN</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r>
              <a:tr h="744480">
                <a:tc>
                  <a:txBody>
                    <a:bodyPr anchor="t">
                      <a:noAutofit/>
                    </a:bodyPr>
                    <a:p>
                      <a:pPr defTabSz="457200">
                        <a:lnSpc>
                          <a:spcPct val="100000"/>
                        </a:lnSpc>
                      </a:pPr>
                      <a:r>
                        <a:rPr lang="en-US" sz="1300" b="0" u="none" strike="noStrike">
                          <a:solidFill>
                            <a:srgbClr val="1A1A1A"/>
                          </a:solidFill>
                          <a:effectLst/>
                          <a:uFillTx/>
                          <a:latin typeface="Calibri"/>
                        </a:rPr>
                        <a:t>Repudiation</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300" b="0" u="none" strike="noStrike">
                          <a:solidFill>
                            <a:srgbClr val="1A1A1A"/>
                          </a:solidFill>
                          <a:effectLst/>
                          <a:uFillTx/>
                          <a:latin typeface="Calibri"/>
                        </a:rPr>
                        <a:t>Absence de logs signés permettant de prouver l'origine d'une commande de diagnostic envoyée via le socket TCP.</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300" b="0" u="none" strike="noStrike">
                          <a:solidFill>
                            <a:srgbClr val="1A1A1A"/>
                          </a:solidFill>
                          <a:effectLst/>
                          <a:uFillTx/>
                          <a:latin typeface="Calibri"/>
                        </a:rPr>
                        <a:t>Gateway ELM327 / API Cloud</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744480">
                <a:tc>
                  <a:txBody>
                    <a:bodyPr anchor="t">
                      <a:noAutofit/>
                    </a:bodyPr>
                    <a:p>
                      <a:pPr defTabSz="457200">
                        <a:lnSpc>
                          <a:spcPct val="100000"/>
                        </a:lnSpc>
                      </a:pPr>
                      <a:r>
                        <a:rPr lang="en-US" sz="1300" b="0" u="none" strike="noStrike">
                          <a:solidFill>
                            <a:srgbClr val="1A1A1A"/>
                          </a:solidFill>
                          <a:effectLst/>
                          <a:uFillTx/>
                          <a:latin typeface="Calibri"/>
                        </a:rPr>
                        <a:t>Information Disclosure</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c>
                  <a:txBody>
                    <a:bodyPr anchor="t">
                      <a:noAutofit/>
                    </a:bodyPr>
                    <a:p>
                      <a:pPr defTabSz="457200">
                        <a:lnSpc>
                          <a:spcPct val="100000"/>
                        </a:lnSpc>
                      </a:pPr>
                      <a:r>
                        <a:rPr lang="en-US" sz="1300" b="0" u="none" strike="noStrike">
                          <a:solidFill>
                            <a:srgbClr val="1A1A1A"/>
                          </a:solidFill>
                          <a:effectLst/>
                          <a:uFillTx/>
                          <a:latin typeface="Calibri"/>
                        </a:rPr>
                        <a:t>Interception du trafic TCP en clair par tcpdump ou Wireshark : toutes les données OBD2 (RPM, vitesse, DTC) sont lisibles sans déchiffrement.</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c>
                  <a:txBody>
                    <a:bodyPr anchor="t">
                      <a:noAutofit/>
                    </a:bodyPr>
                    <a:p>
                      <a:pPr defTabSz="457200">
                        <a:lnSpc>
                          <a:spcPct val="100000"/>
                        </a:lnSpc>
                      </a:pPr>
                      <a:r>
                        <a:rPr lang="en-US" sz="1300" b="0" u="none" strike="noStrike">
                          <a:solidFill>
                            <a:srgbClr val="1A1A1A"/>
                          </a:solidFill>
                          <a:effectLst/>
                          <a:uFillTx/>
                          <a:latin typeface="Calibri"/>
                        </a:rPr>
                        <a:t>Socket TCP (réseau local)</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r>
              <a:tr h="744480">
                <a:tc>
                  <a:txBody>
                    <a:bodyPr anchor="t">
                      <a:noAutofit/>
                    </a:bodyPr>
                    <a:p>
                      <a:pPr defTabSz="457200">
                        <a:lnSpc>
                          <a:spcPct val="100000"/>
                        </a:lnSpc>
                      </a:pPr>
                      <a:r>
                        <a:rPr lang="en-US" sz="1300" b="0" u="none" strike="noStrike">
                          <a:solidFill>
                            <a:srgbClr val="1A1A1A"/>
                          </a:solidFill>
                          <a:effectLst/>
                          <a:uFillTx/>
                          <a:latin typeface="Calibri"/>
                        </a:rPr>
                        <a:t>Denial of Service</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300" b="0" u="none" strike="noStrike">
                          <a:solidFill>
                            <a:srgbClr val="1A1A1A"/>
                          </a:solidFill>
                          <a:effectLst/>
                          <a:uFillTx/>
                          <a:latin typeface="Calibri"/>
                        </a:rPr>
                        <a:t>TCP SYN Flood sur le port 35000 pour saturer l'émulateur ELM327 et couper la communication Gateway ↔ Application, ou CAN Flooding sur vcan0.</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300" b="0" u="none" strike="noStrike">
                          <a:solidFill>
                            <a:srgbClr val="1A1A1A"/>
                          </a:solidFill>
                          <a:effectLst/>
                          <a:uFillTx/>
                          <a:latin typeface="Calibri"/>
                        </a:rPr>
                        <a:t>Port TCP 35000 / Bus CAN</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744480">
                <a:tc>
                  <a:txBody>
                    <a:bodyPr anchor="t">
                      <a:noAutofit/>
                    </a:bodyPr>
                    <a:p>
                      <a:pPr defTabSz="457200">
                        <a:lnSpc>
                          <a:spcPct val="100000"/>
                        </a:lnSpc>
                      </a:pPr>
                      <a:r>
                        <a:rPr lang="en-US" sz="1300" b="0" u="none" strike="noStrike">
                          <a:solidFill>
                            <a:srgbClr val="1A1A1A"/>
                          </a:solidFill>
                          <a:effectLst/>
                          <a:uFillTx/>
                          <a:latin typeface="Calibri"/>
                        </a:rPr>
                        <a:t>Elevation of Privilege</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c>
                  <a:txBody>
                    <a:bodyPr anchor="t">
                      <a:noAutofit/>
                    </a:bodyPr>
                    <a:p>
                      <a:pPr defTabSz="457200">
                        <a:lnSpc>
                          <a:spcPct val="100000"/>
                        </a:lnSpc>
                      </a:pPr>
                      <a:r>
                        <a:rPr lang="en-US" sz="1300" b="0" u="none" strike="noStrike">
                          <a:solidFill>
                            <a:srgbClr val="1A1A1A"/>
                          </a:solidFill>
                          <a:effectLst/>
                          <a:uFillTx/>
                          <a:latin typeface="Calibri"/>
                        </a:rPr>
                        <a:t>Exploitation de la clé API codée en dur dans l'APK pour obtenir un accès administrateur non autorisé à l'API Cloud backend.</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c>
                  <a:txBody>
                    <a:bodyPr anchor="t">
                      <a:noAutofit/>
                    </a:bodyPr>
                    <a:p>
                      <a:pPr defTabSz="457200">
                        <a:lnSpc>
                          <a:spcPct val="100000"/>
                        </a:lnSpc>
                      </a:pPr>
                      <a:r>
                        <a:rPr lang="en-US" sz="1300" b="0" u="none" strike="noStrike">
                          <a:solidFill>
                            <a:srgbClr val="1A1A1A"/>
                          </a:solidFill>
                          <a:effectLst/>
                          <a:uFillTx/>
                          <a:latin typeface="Calibri"/>
                        </a:rPr>
                        <a:t>App Android / API Cloud</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r>
            </a:tbl>
          </a:graphicData>
        </a:graphic>
      </p:graphicFrame>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Rectangle 1"/>
          <p:cNvSpPr/>
          <p:nvPr/>
        </p:nvSpPr>
        <p:spPr>
          <a:xfrm>
            <a:off x="0" y="0"/>
            <a:ext cx="12191400" cy="6857640"/>
          </a:xfrm>
          <a:prstGeom prst="rect">
            <a:avLst/>
          </a:prstGeom>
          <a:solidFill>
            <a:srgbClr val="FFF5E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0" name="Rectangle 2"/>
          <p:cNvSpPr/>
          <p:nvPr/>
        </p:nvSpPr>
        <p:spPr>
          <a:xfrm>
            <a:off x="0" y="0"/>
            <a:ext cx="273960" cy="6857640"/>
          </a:xfrm>
          <a:prstGeom prst="rect">
            <a:avLst/>
          </a:prstGeom>
          <a:solidFill>
            <a:srgbClr val="E05C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1" name="Rectangle 3"/>
          <p:cNvSpPr/>
          <p:nvPr/>
        </p:nvSpPr>
        <p:spPr>
          <a:xfrm>
            <a:off x="0" y="274320"/>
            <a:ext cx="12191400" cy="914040"/>
          </a:xfrm>
          <a:prstGeom prst="rect">
            <a:avLst/>
          </a:prstGeom>
          <a:solidFill>
            <a:srgbClr val="8B00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2" name="TextBox 4"/>
          <p:cNvSpPr/>
          <p:nvPr/>
        </p:nvSpPr>
        <p:spPr>
          <a:xfrm>
            <a:off x="457200" y="274320"/>
            <a:ext cx="11277000" cy="91404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100000"/>
              </a:lnSpc>
            </a:pPr>
            <a:r>
              <a:rPr lang="en-US" sz="3000" b="1" u="none" strike="noStrike">
                <a:solidFill>
                  <a:srgbClr val="FFFFFF"/>
                </a:solidFill>
                <a:effectLst/>
                <a:uFillTx/>
                <a:latin typeface="Calibri"/>
              </a:rPr>
              <a:t>Top 3 Vulnérabilités Critiques — Scoring CVSS v3.1</a:t>
            </a:r>
            <a:endParaRPr lang="en-US" sz="3000" b="0" u="none" strike="noStrike">
              <a:solidFill>
                <a:srgbClr val="000000"/>
              </a:solidFill>
              <a:effectLst/>
              <a:uFillTx/>
              <a:latin typeface="Arial"/>
            </a:endParaRPr>
          </a:p>
        </p:txBody>
      </p:sp>
      <p:graphicFrame>
        <p:nvGraphicFramePr>
          <p:cNvPr id="123" name="Table 5"/>
          <p:cNvGraphicFramePr/>
          <p:nvPr/>
        </p:nvGraphicFramePr>
        <p:xfrm>
          <a:off x="365760" y="1554480"/>
          <a:ext cx="11429640" cy="2926080"/>
        </p:xfrm>
        <a:graphic>
          <a:graphicData uri="http://schemas.openxmlformats.org/drawingml/2006/table">
            <a:tbl>
              <a:tblPr/>
              <a:tblGrid>
                <a:gridCol w="914400"/>
                <a:gridCol w="2011680"/>
                <a:gridCol w="5760720"/>
                <a:gridCol w="1371600"/>
                <a:gridCol w="1371600"/>
              </a:tblGrid>
              <a:tr h="731520">
                <a:tc>
                  <a:txBody>
                    <a:bodyPr anchor="t">
                      <a:noAutofit/>
                    </a:bodyPr>
                    <a:p>
                      <a:pPr defTabSz="457200">
                        <a:lnSpc>
                          <a:spcPct val="100000"/>
                        </a:lnSpc>
                      </a:pPr>
                      <a:r>
                        <a:rPr lang="en-US" sz="1600" b="1" u="none" strike="noStrike">
                          <a:solidFill>
                            <a:srgbClr val="FFFFFF"/>
                          </a:solidFill>
                          <a:effectLst/>
                          <a:uFillTx/>
                          <a:latin typeface="Calibri"/>
                        </a:rPr>
                        <a:t>ID</a:t>
                      </a:r>
                      <a:endParaRPr lang="en-US" sz="16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8B0000"/>
                    </a:solidFill>
                  </a:tcPr>
                </a:tc>
                <a:tc>
                  <a:txBody>
                    <a:bodyPr anchor="t">
                      <a:noAutofit/>
                    </a:bodyPr>
                    <a:p>
                      <a:pPr defTabSz="457200">
                        <a:lnSpc>
                          <a:spcPct val="100000"/>
                        </a:lnSpc>
                      </a:pPr>
                      <a:r>
                        <a:rPr lang="en-US" sz="1600" b="1" u="none" strike="noStrike">
                          <a:solidFill>
                            <a:srgbClr val="FFFFFF"/>
                          </a:solidFill>
                          <a:effectLst/>
                          <a:uFillTx/>
                          <a:latin typeface="Calibri"/>
                        </a:rPr>
                        <a:t>Composant</a:t>
                      </a:r>
                      <a:endParaRPr lang="en-US" sz="16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8B0000"/>
                    </a:solidFill>
                  </a:tcPr>
                </a:tc>
                <a:tc>
                  <a:txBody>
                    <a:bodyPr anchor="t">
                      <a:noAutofit/>
                    </a:bodyPr>
                    <a:p>
                      <a:pPr defTabSz="457200">
                        <a:lnSpc>
                          <a:spcPct val="100000"/>
                        </a:lnSpc>
                      </a:pPr>
                      <a:r>
                        <a:rPr lang="en-US" sz="1600" b="1" u="none" strike="noStrike">
                          <a:solidFill>
                            <a:srgbClr val="FFFFFF"/>
                          </a:solidFill>
                          <a:effectLst/>
                          <a:uFillTx/>
                          <a:latin typeface="Calibri"/>
                        </a:rPr>
                        <a:t>Description</a:t>
                      </a:r>
                      <a:endParaRPr lang="en-US" sz="16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8B0000"/>
                    </a:solidFill>
                  </a:tcPr>
                </a:tc>
                <a:tc>
                  <a:txBody>
                    <a:bodyPr anchor="t">
                      <a:noAutofit/>
                    </a:bodyPr>
                    <a:p>
                      <a:pPr defTabSz="457200">
                        <a:lnSpc>
                          <a:spcPct val="100000"/>
                        </a:lnSpc>
                      </a:pPr>
                      <a:r>
                        <a:rPr lang="en-US" sz="1600" b="1" u="none" strike="noStrike">
                          <a:solidFill>
                            <a:srgbClr val="FFFFFF"/>
                          </a:solidFill>
                          <a:effectLst/>
                          <a:uFillTx/>
                          <a:latin typeface="Calibri"/>
                        </a:rPr>
                        <a:t>CVSS v3.1</a:t>
                      </a:r>
                      <a:endParaRPr lang="en-US" sz="16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8B0000"/>
                    </a:solidFill>
                  </a:tcPr>
                </a:tc>
                <a:tc>
                  <a:txBody>
                    <a:bodyPr anchor="t">
                      <a:noAutofit/>
                    </a:bodyPr>
                    <a:p>
                      <a:pPr defTabSz="457200">
                        <a:lnSpc>
                          <a:spcPct val="100000"/>
                        </a:lnSpc>
                      </a:pPr>
                      <a:r>
                        <a:rPr lang="en-US" sz="1600" b="1" u="none" strike="noStrike">
                          <a:solidFill>
                            <a:srgbClr val="FFFFFF"/>
                          </a:solidFill>
                          <a:effectLst/>
                          <a:uFillTx/>
                          <a:latin typeface="Calibri"/>
                        </a:rPr>
                        <a:t>Priorité</a:t>
                      </a:r>
                      <a:endParaRPr lang="en-US" sz="16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8B0000"/>
                    </a:solidFill>
                  </a:tcPr>
                </a:tc>
              </a:tr>
              <a:tr h="731520">
                <a:tc>
                  <a:txBody>
                    <a:bodyPr anchor="t">
                      <a:noAutofit/>
                    </a:bodyPr>
                    <a:p>
                      <a:pPr defTabSz="457200">
                        <a:lnSpc>
                          <a:spcPct val="100000"/>
                        </a:lnSpc>
                      </a:pPr>
                      <a:r>
                        <a:rPr lang="en-US" sz="1300" b="0" u="none" strike="noStrike">
                          <a:solidFill>
                            <a:srgbClr val="1A1A1A"/>
                          </a:solidFill>
                          <a:effectLst/>
                          <a:uFillTx/>
                          <a:latin typeface="Calibri"/>
                        </a:rPr>
                        <a:t>VULN-01</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300" b="0" u="none" strike="noStrike">
                          <a:solidFill>
                            <a:srgbClr val="1A1A1A"/>
                          </a:solidFill>
                          <a:effectLst/>
                          <a:uFillTx/>
                          <a:latin typeface="Calibri"/>
                        </a:rPr>
                        <a:t>Bus CAN</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300" b="0" u="none" strike="noStrike">
                          <a:solidFill>
                            <a:srgbClr val="1A1A1A"/>
                          </a:solidFill>
                          <a:effectLst/>
                          <a:uFillTx/>
                          <a:latin typeface="Calibri"/>
                        </a:rPr>
                        <a:t>Injection de trames CAN arbitraires via le socket TCP compromis (absence d'authentification des messages CAN). Prise de contrôle possible des ECUs critiques.</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300" b="1" u="none" strike="noStrike">
                          <a:solidFill>
                            <a:srgbClr val="8B0000"/>
                          </a:solidFill>
                          <a:effectLst/>
                          <a:uFillTx/>
                          <a:latin typeface="Calibri"/>
                        </a:rPr>
                        <a:t>9.3 (Critique)</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300" b="0" u="none" strike="noStrike">
                          <a:solidFill>
                            <a:srgbClr val="1A1A1A"/>
                          </a:solidFill>
                          <a:effectLst/>
                          <a:uFillTx/>
                          <a:latin typeface="Calibri"/>
                        </a:rPr>
                        <a:t>Immédiate</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731520">
                <a:tc>
                  <a:txBody>
                    <a:bodyPr anchor="t">
                      <a:noAutofit/>
                    </a:bodyPr>
                    <a:p>
                      <a:pPr defTabSz="457200">
                        <a:lnSpc>
                          <a:spcPct val="100000"/>
                        </a:lnSpc>
                      </a:pPr>
                      <a:r>
                        <a:rPr lang="en-US" sz="1300" b="0" u="none" strike="noStrike">
                          <a:solidFill>
                            <a:srgbClr val="1A1A1A"/>
                          </a:solidFill>
                          <a:effectLst/>
                          <a:uFillTx/>
                          <a:latin typeface="Calibri"/>
                        </a:rPr>
                        <a:t>VULN-02</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c>
                  <a:txBody>
                    <a:bodyPr anchor="t">
                      <a:noAutofit/>
                    </a:bodyPr>
                    <a:p>
                      <a:pPr defTabSz="457200">
                        <a:lnSpc>
                          <a:spcPct val="100000"/>
                        </a:lnSpc>
                      </a:pPr>
                      <a:r>
                        <a:rPr lang="en-US" sz="1300" b="0" u="none" strike="noStrike">
                          <a:solidFill>
                            <a:srgbClr val="1A1A1A"/>
                          </a:solidFill>
                          <a:effectLst/>
                          <a:uFillTx/>
                          <a:latin typeface="Calibri"/>
                        </a:rPr>
                        <a:t>Socket TCP</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c>
                  <a:txBody>
                    <a:bodyPr anchor="t">
                      <a:noAutofit/>
                    </a:bodyPr>
                    <a:p>
                      <a:pPr defTabSz="457200">
                        <a:lnSpc>
                          <a:spcPct val="100000"/>
                        </a:lnSpc>
                      </a:pPr>
                      <a:r>
                        <a:rPr lang="en-US" sz="1300" b="0" u="none" strike="noStrike">
                          <a:solidFill>
                            <a:srgbClr val="1A1A1A"/>
                          </a:solidFill>
                          <a:effectLst/>
                          <a:uFillTx/>
                          <a:latin typeface="Calibri"/>
                        </a:rPr>
                        <a:t>Communication TCP non chiffrée (absence de TLS) entre l'émulateur ELM327 et l'application Android. Permet l'interception et l'injection de commandes OBD2 (MitM).</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c>
                  <a:txBody>
                    <a:bodyPr anchor="t">
                      <a:noAutofit/>
                    </a:bodyPr>
                    <a:p>
                      <a:pPr defTabSz="457200">
                        <a:lnSpc>
                          <a:spcPct val="100000"/>
                        </a:lnSpc>
                      </a:pPr>
                      <a:r>
                        <a:rPr lang="en-US" sz="1300" b="1" u="none" strike="noStrike">
                          <a:solidFill>
                            <a:srgbClr val="E05C2A"/>
                          </a:solidFill>
                          <a:effectLst/>
                          <a:uFillTx/>
                          <a:latin typeface="Calibri"/>
                        </a:rPr>
                        <a:t>8.6 (Élevée)</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c>
                  <a:txBody>
                    <a:bodyPr anchor="t">
                      <a:noAutofit/>
                    </a:bodyPr>
                    <a:p>
                      <a:pPr defTabSz="457200">
                        <a:lnSpc>
                          <a:spcPct val="100000"/>
                        </a:lnSpc>
                      </a:pPr>
                      <a:r>
                        <a:rPr lang="en-US" sz="1300" b="0" u="none" strike="noStrike">
                          <a:solidFill>
                            <a:srgbClr val="1A1A1A"/>
                          </a:solidFill>
                          <a:effectLst/>
                          <a:uFillTx/>
                          <a:latin typeface="Calibri"/>
                        </a:rPr>
                        <a:t>Immédiate</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r>
              <a:tr h="731520">
                <a:tc>
                  <a:txBody>
                    <a:bodyPr anchor="t">
                      <a:noAutofit/>
                    </a:bodyPr>
                    <a:p>
                      <a:pPr defTabSz="457200">
                        <a:lnSpc>
                          <a:spcPct val="100000"/>
                        </a:lnSpc>
                      </a:pPr>
                      <a:r>
                        <a:rPr lang="en-US" sz="1300" b="0" u="none" strike="noStrike">
                          <a:solidFill>
                            <a:srgbClr val="1A1A1A"/>
                          </a:solidFill>
                          <a:effectLst/>
                          <a:uFillTx/>
                          <a:latin typeface="Calibri"/>
                        </a:rPr>
                        <a:t>VULN-03</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300" b="0" u="none" strike="noStrike">
                          <a:solidFill>
                            <a:srgbClr val="1A1A1A"/>
                          </a:solidFill>
                          <a:effectLst/>
                          <a:uFillTx/>
                          <a:latin typeface="Calibri"/>
                        </a:rPr>
                        <a:t>App Android</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300" b="0" u="none" strike="noStrike">
                          <a:solidFill>
                            <a:srgbClr val="1A1A1A"/>
                          </a:solidFill>
                          <a:effectLst/>
                          <a:uFillTx/>
                          <a:latin typeface="Calibri"/>
                        </a:rPr>
                        <a:t>Clé API Cloud codée en dur (Hardcoded Secret) dans strings.xml de l'APK. Accessible par simple décompilation avec apktool ou jadx.</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300" b="1" u="none" strike="noStrike">
                          <a:solidFill>
                            <a:srgbClr val="E05C2A"/>
                          </a:solidFill>
                          <a:effectLst/>
                          <a:uFillTx/>
                          <a:latin typeface="Calibri"/>
                        </a:rPr>
                        <a:t>7.5 (Élevée)</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lang="en-US" sz="1300" b="0" u="none" strike="noStrike">
                          <a:solidFill>
                            <a:srgbClr val="1A1A1A"/>
                          </a:solidFill>
                          <a:effectLst/>
                          <a:uFillTx/>
                          <a:latin typeface="Calibri"/>
                        </a:rPr>
                        <a:t>Haute</a:t>
                      </a:r>
                      <a:endParaRPr lang="en-US" sz="13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bl>
          </a:graphicData>
        </a:graphic>
      </p:graphicFrame>
      <p:sp>
        <p:nvSpPr>
          <p:cNvPr id="124" name="Rectangle 6"/>
          <p:cNvSpPr/>
          <p:nvPr/>
        </p:nvSpPr>
        <p:spPr>
          <a:xfrm>
            <a:off x="365760" y="4663440"/>
            <a:ext cx="11429640" cy="822960"/>
          </a:xfrm>
          <a:prstGeom prst="rect">
            <a:avLst/>
          </a:prstGeom>
          <a:solidFill>
            <a:srgbClr val="FFEBDC"/>
          </a:solidFill>
          <a:ln>
            <a:solidFill>
              <a:srgbClr val="E05C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5" name="TextBox 7"/>
          <p:cNvSpPr/>
          <p:nvPr/>
        </p:nvSpPr>
        <p:spPr>
          <a:xfrm>
            <a:off x="548640" y="4800600"/>
            <a:ext cx="11063880" cy="4870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300" b="0" u="none" strike="noStrike">
                <a:solidFill>
                  <a:srgbClr val="1A1A1A"/>
                </a:solidFill>
                <a:effectLst/>
                <a:uFillTx/>
                <a:latin typeface="Calibri"/>
              </a:rPr>
              <a:t>Note CVSS v3.1 — VULN-02 : Vecteur = Network (AV:N), Complexité = Low (AC:L), Privilèges = None (PR:N), Interaction = None (UI:N), Impact Confidentialité + Intégrité = High → Score calculé : 8.6 (Élevée).</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Rectangle 1"/>
          <p:cNvSpPr/>
          <p:nvPr/>
        </p:nvSpPr>
        <p:spPr>
          <a:xfrm>
            <a:off x="0" y="0"/>
            <a:ext cx="12191400" cy="6857640"/>
          </a:xfrm>
          <a:prstGeom prst="rect">
            <a:avLst/>
          </a:prstGeom>
          <a:solidFill>
            <a:srgbClr val="8B00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7" name="Rectangle 2"/>
          <p:cNvSpPr/>
          <p:nvPr/>
        </p:nvSpPr>
        <p:spPr>
          <a:xfrm>
            <a:off x="0" y="0"/>
            <a:ext cx="273960" cy="6857640"/>
          </a:xfrm>
          <a:prstGeom prst="rect">
            <a:avLst/>
          </a:prstGeom>
          <a:solidFill>
            <a:srgbClr val="E05C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8" name="TextBox 3"/>
          <p:cNvSpPr/>
          <p:nvPr/>
        </p:nvSpPr>
        <p:spPr>
          <a:xfrm>
            <a:off x="731520" y="1828800"/>
            <a:ext cx="5486040" cy="45684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600" b="1" u="none" strike="noStrike">
                <a:solidFill>
                  <a:srgbClr val="E05C2A"/>
                </a:solidFill>
                <a:effectLst/>
                <a:uFillTx/>
                <a:latin typeface="Calibri"/>
              </a:rPr>
              <a:t>P H A S E   4</a:t>
            </a:r>
            <a:endParaRPr lang="en-US" sz="1600" b="0" u="none" strike="noStrike">
              <a:solidFill>
                <a:srgbClr val="000000"/>
              </a:solidFill>
              <a:effectLst/>
              <a:uFillTx/>
              <a:latin typeface="Arial"/>
            </a:endParaRPr>
          </a:p>
        </p:txBody>
      </p:sp>
      <p:sp>
        <p:nvSpPr>
          <p:cNvPr id="129" name="TextBox 4"/>
          <p:cNvSpPr/>
          <p:nvPr/>
        </p:nvSpPr>
        <p:spPr>
          <a:xfrm>
            <a:off x="731520" y="2560320"/>
            <a:ext cx="10515240" cy="16455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5000" b="1" u="none" strike="noStrike">
                <a:solidFill>
                  <a:srgbClr val="FFFFFF"/>
                </a:solidFill>
                <a:effectLst/>
                <a:uFillTx/>
                <a:latin typeface="Calibri"/>
              </a:rPr>
              <a:t>Sécurisation &amp; Rapport</a:t>
            </a:r>
            <a:endParaRPr lang="en-US" sz="5000" b="0" u="none" strike="noStrike">
              <a:solidFill>
                <a:srgbClr val="000000"/>
              </a:solidFill>
              <a:effectLst/>
              <a:uFillTx/>
              <a:latin typeface="Arial"/>
            </a:endParaRPr>
          </a:p>
        </p:txBody>
      </p:sp>
      <p:sp>
        <p:nvSpPr>
          <p:cNvPr id="130" name="Rectangle 5"/>
          <p:cNvSpPr/>
          <p:nvPr/>
        </p:nvSpPr>
        <p:spPr>
          <a:xfrm>
            <a:off x="731520" y="4297680"/>
            <a:ext cx="1828440" cy="45360"/>
          </a:xfrm>
          <a:prstGeom prst="rect">
            <a:avLst/>
          </a:prstGeom>
          <a:solidFill>
            <a:srgbClr val="E05C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p>
            <a:endParaRPr lang="en-US" sz="1800" b="0" u="none" strike="noStrik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Rectangle 1"/>
          <p:cNvSpPr/>
          <p:nvPr/>
        </p:nvSpPr>
        <p:spPr>
          <a:xfrm>
            <a:off x="0" y="0"/>
            <a:ext cx="12191400" cy="6857640"/>
          </a:xfrm>
          <a:prstGeom prst="rect">
            <a:avLst/>
          </a:prstGeom>
          <a:solidFill>
            <a:srgbClr val="FFF5E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2" name="Rectangle 2"/>
          <p:cNvSpPr/>
          <p:nvPr/>
        </p:nvSpPr>
        <p:spPr>
          <a:xfrm>
            <a:off x="0" y="0"/>
            <a:ext cx="273960" cy="6857640"/>
          </a:xfrm>
          <a:prstGeom prst="rect">
            <a:avLst/>
          </a:prstGeom>
          <a:solidFill>
            <a:srgbClr val="E05C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3" name="Rectangle 3"/>
          <p:cNvSpPr/>
          <p:nvPr/>
        </p:nvSpPr>
        <p:spPr>
          <a:xfrm>
            <a:off x="0" y="274320"/>
            <a:ext cx="12191400" cy="914040"/>
          </a:xfrm>
          <a:prstGeom prst="rect">
            <a:avLst/>
          </a:prstGeom>
          <a:solidFill>
            <a:srgbClr val="8B00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4" name="TextBox 4"/>
          <p:cNvSpPr/>
          <p:nvPr/>
        </p:nvSpPr>
        <p:spPr>
          <a:xfrm>
            <a:off x="457200" y="274320"/>
            <a:ext cx="11277000" cy="91404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100000"/>
              </a:lnSpc>
            </a:pPr>
            <a:r>
              <a:rPr lang="en-US" sz="3000" b="1" u="none" strike="noStrike">
                <a:solidFill>
                  <a:srgbClr val="FFFFFF"/>
                </a:solidFill>
                <a:effectLst/>
                <a:uFillTx/>
                <a:latin typeface="Calibri"/>
              </a:rPr>
              <a:t>Impact Business — Conséquences d'un piratage</a:t>
            </a:r>
            <a:endParaRPr lang="en-US" sz="3000" b="0" u="none" strike="noStrike">
              <a:solidFill>
                <a:srgbClr val="000000"/>
              </a:solidFill>
              <a:effectLst/>
              <a:uFillTx/>
              <a:latin typeface="Arial"/>
            </a:endParaRPr>
          </a:p>
        </p:txBody>
      </p:sp>
      <p:sp>
        <p:nvSpPr>
          <p:cNvPr id="135" name="TextBox 5"/>
          <p:cNvSpPr/>
          <p:nvPr/>
        </p:nvSpPr>
        <p:spPr>
          <a:xfrm>
            <a:off x="640080" y="1463040"/>
            <a:ext cx="10972440" cy="5120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endParaRPr lang="en-US" sz="100" b="0" u="none" strike="noStrike">
              <a:solidFill>
                <a:srgbClr val="000000"/>
              </a:solidFill>
              <a:effectLst/>
              <a:uFillTx/>
              <a:latin typeface="Arial"/>
            </a:endParaRPr>
          </a:p>
          <a:p>
            <a:pPr defTabSz="457200">
              <a:lnSpc>
                <a:spcPct val="100000"/>
              </a:lnSpc>
              <a:spcBef>
                <a:spcPts val="1400"/>
              </a:spcBef>
            </a:pPr>
            <a:r>
              <a:rPr lang="en-US" sz="1900" b="1" u="none" strike="noStrike">
                <a:solidFill>
                  <a:srgbClr val="8B0000"/>
                </a:solidFill>
                <a:effectLst/>
                <a:uFillTx/>
                <a:latin typeface="Calibri"/>
              </a:rPr>
              <a:t>Sécurité Physique des Passagers (Safety) :</a:t>
            </a:r>
            <a:endParaRPr lang="en-US" sz="1900" b="0" u="none" strike="noStrike">
              <a:solidFill>
                <a:srgbClr val="000000"/>
              </a:solidFill>
              <a:effectLst/>
              <a:uFillTx/>
              <a:latin typeface="Arial"/>
            </a:endParaRPr>
          </a:p>
          <a:p>
            <a:pPr marL="457200" defTabSz="457200">
              <a:lnSpc>
                <a:spcPct val="100000"/>
              </a:lnSpc>
            </a:pPr>
            <a:r>
              <a:rPr lang="en-US" sz="1600" b="0" u="none" strike="noStrike">
                <a:solidFill>
                  <a:srgbClr val="1A1A1A"/>
                </a:solidFill>
                <a:effectLst/>
                <a:uFillTx/>
                <a:latin typeface="Calibri"/>
              </a:rPr>
              <a:t>Un attaquant MitM sur le socket TCP peut injecter des commandes OBD2 qui se traduisent en trames CAN malveillantes, provoquant l'arrêt moteur, le blocage de la direction ou le déclenchement des freins en pleine conduite.</a:t>
            </a:r>
            <a:endParaRPr lang="en-US" sz="1600" b="0" u="none" strike="noStrike">
              <a:solidFill>
                <a:srgbClr val="000000"/>
              </a:solidFill>
              <a:effectLst/>
              <a:uFillTx/>
              <a:latin typeface="Arial"/>
            </a:endParaRPr>
          </a:p>
          <a:p>
            <a:pPr defTabSz="457200">
              <a:lnSpc>
                <a:spcPct val="100000"/>
              </a:lnSpc>
              <a:spcBef>
                <a:spcPts val="1400"/>
              </a:spcBef>
            </a:pPr>
            <a:r>
              <a:rPr lang="en-US" sz="1900" b="1" u="none" strike="noStrike">
                <a:solidFill>
                  <a:srgbClr val="8B0000"/>
                </a:solidFill>
                <a:effectLst/>
                <a:uFillTx/>
                <a:latin typeface="Calibri"/>
              </a:rPr>
              <a:t>Atteinte à la Réputation (Brand Damage) :</a:t>
            </a:r>
            <a:endParaRPr lang="en-US" sz="1900" b="0" u="none" strike="noStrike">
              <a:solidFill>
                <a:srgbClr val="000000"/>
              </a:solidFill>
              <a:effectLst/>
              <a:uFillTx/>
              <a:latin typeface="Arial"/>
            </a:endParaRPr>
          </a:p>
          <a:p>
            <a:pPr marL="457200" defTabSz="457200">
              <a:lnSpc>
                <a:spcPct val="100000"/>
              </a:lnSpc>
            </a:pPr>
            <a:r>
              <a:rPr lang="en-US" sz="1600" b="0" u="none" strike="noStrike">
                <a:solidFill>
                  <a:srgbClr val="1A1A1A"/>
                </a:solidFill>
                <a:effectLst/>
                <a:uFillTx/>
                <a:latin typeface="Calibri"/>
              </a:rPr>
              <a:t>Un piratage médiatisé d'une solution IoT automobile connectée via IP entraîne une perte de confiance immédiate des consommateurs et une chute de la valorisation boursière de l'éditeur.</a:t>
            </a:r>
            <a:endParaRPr lang="en-US" sz="1600" b="0" u="none" strike="noStrike">
              <a:solidFill>
                <a:srgbClr val="000000"/>
              </a:solidFill>
              <a:effectLst/>
              <a:uFillTx/>
              <a:latin typeface="Arial"/>
            </a:endParaRPr>
          </a:p>
          <a:p>
            <a:pPr defTabSz="457200">
              <a:lnSpc>
                <a:spcPct val="100000"/>
              </a:lnSpc>
              <a:spcBef>
                <a:spcPts val="1400"/>
              </a:spcBef>
            </a:pPr>
            <a:r>
              <a:rPr lang="en-US" sz="1900" b="1" u="none" strike="noStrike">
                <a:solidFill>
                  <a:srgbClr val="8B0000"/>
                </a:solidFill>
                <a:effectLst/>
                <a:uFillTx/>
                <a:latin typeface="Calibri"/>
              </a:rPr>
              <a:t>Fuite de Données Privées (Privacy / RGPD) :</a:t>
            </a:r>
            <a:endParaRPr lang="en-US" sz="1900" b="0" u="none" strike="noStrike">
              <a:solidFill>
                <a:srgbClr val="000000"/>
              </a:solidFill>
              <a:effectLst/>
              <a:uFillTx/>
              <a:latin typeface="Arial"/>
            </a:endParaRPr>
          </a:p>
          <a:p>
            <a:pPr marL="457200" defTabSz="457200">
              <a:lnSpc>
                <a:spcPct val="100000"/>
              </a:lnSpc>
            </a:pPr>
            <a:r>
              <a:rPr lang="en-US" sz="1600" b="0" u="none" strike="noStrike">
                <a:solidFill>
                  <a:srgbClr val="1A1A1A"/>
                </a:solidFill>
                <a:effectLst/>
                <a:uFillTx/>
                <a:latin typeface="Calibri"/>
              </a:rPr>
              <a:t>L'interception du trafic TCP en clair expose les données de télémétrie (géolocalisation, habitudes de conduite). Amendes RGPD jusqu'à 4 % du chiffre d'affaires mondial.</a:t>
            </a:r>
            <a:endParaRPr lang="en-US" sz="1600" b="0" u="none" strike="noStrike">
              <a:solidFill>
                <a:srgbClr val="000000"/>
              </a:solidFill>
              <a:effectLst/>
              <a:uFillTx/>
              <a:latin typeface="Arial"/>
            </a:endParaRPr>
          </a:p>
          <a:p>
            <a:pPr defTabSz="457200">
              <a:lnSpc>
                <a:spcPct val="100000"/>
              </a:lnSpc>
              <a:spcBef>
                <a:spcPts val="1400"/>
              </a:spcBef>
            </a:pPr>
            <a:r>
              <a:rPr lang="en-US" sz="1900" b="1" u="none" strike="noStrike">
                <a:solidFill>
                  <a:srgbClr val="8B0000"/>
                </a:solidFill>
                <a:effectLst/>
                <a:uFillTx/>
                <a:latin typeface="Calibri"/>
              </a:rPr>
              <a:t>Coûts Financiers Directs :</a:t>
            </a:r>
            <a:endParaRPr lang="en-US" sz="1900" b="0" u="none" strike="noStrike">
              <a:solidFill>
                <a:srgbClr val="000000"/>
              </a:solidFill>
              <a:effectLst/>
              <a:uFillTx/>
              <a:latin typeface="Arial"/>
            </a:endParaRPr>
          </a:p>
          <a:p>
            <a:pPr marL="457200" defTabSz="457200">
              <a:lnSpc>
                <a:spcPct val="100000"/>
              </a:lnSpc>
            </a:pPr>
            <a:r>
              <a:rPr lang="en-US" sz="1600" b="0" u="none" strike="noStrike">
                <a:solidFill>
                  <a:srgbClr val="1A1A1A"/>
                </a:solidFill>
                <a:effectLst/>
                <a:uFillTx/>
                <a:latin typeface="Calibri"/>
              </a:rPr>
              <a:t>Campagnes de rappel de véhicules (Recall), développement de correctifs en urgence, indemnisations juridiques.</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Rectangle 1"/>
          <p:cNvSpPr/>
          <p:nvPr/>
        </p:nvSpPr>
        <p:spPr>
          <a:xfrm>
            <a:off x="0" y="0"/>
            <a:ext cx="12191400" cy="6857640"/>
          </a:xfrm>
          <a:prstGeom prst="rect">
            <a:avLst/>
          </a:prstGeom>
          <a:solidFill>
            <a:srgbClr val="FFF5E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7" name="Rectangle 2"/>
          <p:cNvSpPr/>
          <p:nvPr/>
        </p:nvSpPr>
        <p:spPr>
          <a:xfrm>
            <a:off x="0" y="0"/>
            <a:ext cx="273960" cy="6857640"/>
          </a:xfrm>
          <a:prstGeom prst="rect">
            <a:avLst/>
          </a:prstGeom>
          <a:solidFill>
            <a:srgbClr val="E05C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8" name="Rectangle 3"/>
          <p:cNvSpPr/>
          <p:nvPr/>
        </p:nvSpPr>
        <p:spPr>
          <a:xfrm>
            <a:off x="0" y="274320"/>
            <a:ext cx="12191400" cy="914040"/>
          </a:xfrm>
          <a:prstGeom prst="rect">
            <a:avLst/>
          </a:prstGeom>
          <a:solidFill>
            <a:srgbClr val="8B00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9" name="TextBox 4"/>
          <p:cNvSpPr/>
          <p:nvPr/>
        </p:nvSpPr>
        <p:spPr>
          <a:xfrm>
            <a:off x="457200" y="274320"/>
            <a:ext cx="11277000" cy="91404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100000"/>
              </a:lnSpc>
            </a:pPr>
            <a:r>
              <a:rPr lang="en-US" sz="3000" b="1" u="none" strike="noStrike">
                <a:solidFill>
                  <a:srgbClr val="FFFFFF"/>
                </a:solidFill>
                <a:effectLst/>
                <a:uFillTx/>
                <a:latin typeface="Calibri"/>
              </a:rPr>
              <a:t>Recommandations &amp; Mesures Correctives</a:t>
            </a:r>
            <a:endParaRPr lang="en-US" sz="3000" b="0" u="none" strike="noStrike">
              <a:solidFill>
                <a:srgbClr val="000000"/>
              </a:solidFill>
              <a:effectLst/>
              <a:uFillTx/>
              <a:latin typeface="Arial"/>
            </a:endParaRPr>
          </a:p>
        </p:txBody>
      </p:sp>
      <p:sp>
        <p:nvSpPr>
          <p:cNvPr id="140" name="Rectangle 5"/>
          <p:cNvSpPr/>
          <p:nvPr/>
        </p:nvSpPr>
        <p:spPr>
          <a:xfrm>
            <a:off x="365760" y="1737360"/>
            <a:ext cx="3565800" cy="4388760"/>
          </a:xfrm>
          <a:prstGeom prst="rect">
            <a:avLst/>
          </a:prstGeom>
          <a:solidFill>
            <a:srgbClr val="FFE6E6"/>
          </a:solidFill>
          <a:ln>
            <a:solidFill>
              <a:srgbClr val="8B00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1" name="TextBox 6"/>
          <p:cNvSpPr/>
          <p:nvPr/>
        </p:nvSpPr>
        <p:spPr>
          <a:xfrm>
            <a:off x="475560" y="1828800"/>
            <a:ext cx="3346200" cy="42058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endParaRPr lang="en-US" sz="1800" b="0" u="none" strike="noStrike">
              <a:solidFill>
                <a:srgbClr val="000000"/>
              </a:solidFill>
              <a:effectLst/>
              <a:uFillTx/>
              <a:latin typeface="Arial"/>
            </a:endParaRPr>
          </a:p>
          <a:p>
            <a:pPr defTabSz="457200">
              <a:lnSpc>
                <a:spcPct val="100000"/>
              </a:lnSpc>
            </a:pPr>
            <a:r>
              <a:rPr lang="en-US" sz="1900" b="1" u="none" strike="noStrike">
                <a:solidFill>
                  <a:srgbClr val="8B0000"/>
                </a:solidFill>
                <a:effectLst/>
                <a:uFillTx/>
                <a:latin typeface="Calibri"/>
              </a:rPr>
              <a:t>Court Terme (Immédiat)</a:t>
            </a:r>
            <a:endParaRPr lang="en-US" sz="1900" b="0" u="none" strike="noStrike">
              <a:solidFill>
                <a:srgbClr val="000000"/>
              </a:solidFill>
              <a:effectLst/>
              <a:uFillTx/>
              <a:latin typeface="Arial"/>
            </a:endParaRPr>
          </a:p>
          <a:p>
            <a:pPr defTabSz="457200">
              <a:lnSpc>
                <a:spcPct val="100000"/>
              </a:lnSpc>
              <a:spcBef>
                <a:spcPts val="901"/>
              </a:spcBef>
            </a:pPr>
            <a:r>
              <a:rPr lang="en-US" sz="1500" b="0" u="none" strike="noStrike">
                <a:solidFill>
                  <a:srgbClr val="1A1A1A"/>
                </a:solidFill>
                <a:effectLst/>
                <a:uFillTx/>
                <a:latin typeface="Calibri"/>
              </a:rPr>
              <a:t>• Chiffrer le socket TCP avec TLS 1.3 (Let's Encrypt ou certificat auto-signé).</a:t>
            </a:r>
            <a:endParaRPr lang="en-US" sz="1500" b="0" u="none" strike="noStrike">
              <a:solidFill>
                <a:srgbClr val="000000"/>
              </a:solidFill>
              <a:effectLst/>
              <a:uFillTx/>
              <a:latin typeface="Arial"/>
            </a:endParaRPr>
          </a:p>
          <a:p>
            <a:pPr defTabSz="457200">
              <a:lnSpc>
                <a:spcPct val="100000"/>
              </a:lnSpc>
              <a:spcBef>
                <a:spcPts val="901"/>
              </a:spcBef>
            </a:pPr>
            <a:r>
              <a:rPr lang="en-US" sz="1500" b="0" u="none" strike="noStrike">
                <a:solidFill>
                  <a:srgbClr val="1A1A1A"/>
                </a:solidFill>
                <a:effectLst/>
                <a:uFillTx/>
                <a:latin typeface="Calibri"/>
              </a:rPr>
              <a:t>• Révoquer la clé API codée en dur et implémenter OAuth2 + JWT.</a:t>
            </a:r>
            <a:endParaRPr lang="en-US" sz="1500" b="0" u="none" strike="noStrike">
              <a:solidFill>
                <a:srgbClr val="000000"/>
              </a:solidFill>
              <a:effectLst/>
              <a:uFillTx/>
              <a:latin typeface="Arial"/>
            </a:endParaRPr>
          </a:p>
          <a:p>
            <a:pPr defTabSz="457200">
              <a:lnSpc>
                <a:spcPct val="100000"/>
              </a:lnSpc>
              <a:spcBef>
                <a:spcPts val="901"/>
              </a:spcBef>
            </a:pPr>
            <a:r>
              <a:rPr lang="en-US" sz="1500" b="0" u="none" strike="noStrike">
                <a:solidFill>
                  <a:srgbClr val="1A1A1A"/>
                </a:solidFill>
                <a:effectLst/>
                <a:uFillTx/>
                <a:latin typeface="Calibri"/>
              </a:rPr>
              <a:t>• Restreindre l'émulateur ELM327 en lecture seule sur le bus CAN (hardware).</a:t>
            </a:r>
            <a:endParaRPr lang="en-US" sz="1500" b="0" u="none" strike="noStrike">
              <a:solidFill>
                <a:srgbClr val="000000"/>
              </a:solidFill>
              <a:effectLst/>
              <a:uFillTx/>
              <a:latin typeface="Arial"/>
            </a:endParaRPr>
          </a:p>
        </p:txBody>
      </p:sp>
      <p:sp>
        <p:nvSpPr>
          <p:cNvPr id="142" name="Rectangle 7"/>
          <p:cNvSpPr/>
          <p:nvPr/>
        </p:nvSpPr>
        <p:spPr>
          <a:xfrm>
            <a:off x="4297680" y="1737360"/>
            <a:ext cx="3565800" cy="4388760"/>
          </a:xfrm>
          <a:prstGeom prst="rect">
            <a:avLst/>
          </a:prstGeom>
          <a:solidFill>
            <a:srgbClr val="FFF2DC"/>
          </a:solidFill>
          <a:ln>
            <a:solidFill>
              <a:srgbClr val="E05C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3" name="TextBox 8"/>
          <p:cNvSpPr/>
          <p:nvPr/>
        </p:nvSpPr>
        <p:spPr>
          <a:xfrm>
            <a:off x="4407480" y="1828800"/>
            <a:ext cx="3346200" cy="42058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endParaRPr lang="en-US" sz="1800" b="0" u="none" strike="noStrike">
              <a:solidFill>
                <a:srgbClr val="000000"/>
              </a:solidFill>
              <a:effectLst/>
              <a:uFillTx/>
              <a:latin typeface="Arial"/>
            </a:endParaRPr>
          </a:p>
          <a:p>
            <a:pPr defTabSz="457200">
              <a:lnSpc>
                <a:spcPct val="100000"/>
              </a:lnSpc>
            </a:pPr>
            <a:r>
              <a:rPr lang="en-US" sz="1900" b="1" u="none" strike="noStrike">
                <a:solidFill>
                  <a:srgbClr val="E05C2A"/>
                </a:solidFill>
                <a:effectLst/>
                <a:uFillTx/>
                <a:latin typeface="Calibri"/>
              </a:rPr>
              <a:t>Moyen Terme (3–6 mois)</a:t>
            </a:r>
            <a:endParaRPr lang="en-US" sz="1900" b="0" u="none" strike="noStrike">
              <a:solidFill>
                <a:srgbClr val="000000"/>
              </a:solidFill>
              <a:effectLst/>
              <a:uFillTx/>
              <a:latin typeface="Arial"/>
            </a:endParaRPr>
          </a:p>
          <a:p>
            <a:pPr defTabSz="457200">
              <a:lnSpc>
                <a:spcPct val="100000"/>
              </a:lnSpc>
              <a:spcBef>
                <a:spcPts val="901"/>
              </a:spcBef>
            </a:pPr>
            <a:r>
              <a:rPr lang="en-US" sz="1500" b="0" u="none" strike="noStrike">
                <a:solidFill>
                  <a:srgbClr val="1A1A1A"/>
                </a:solidFill>
                <a:effectLst/>
                <a:uFillTx/>
                <a:latin typeface="Calibri"/>
              </a:rPr>
              <a:t>• Implémenter l'authentification mutuelle mTLS sur le socket TCP.</a:t>
            </a:r>
            <a:endParaRPr lang="en-US" sz="1500" b="0" u="none" strike="noStrike">
              <a:solidFill>
                <a:srgbClr val="000000"/>
              </a:solidFill>
              <a:effectLst/>
              <a:uFillTx/>
              <a:latin typeface="Arial"/>
            </a:endParaRPr>
          </a:p>
          <a:p>
            <a:pPr defTabSz="457200">
              <a:lnSpc>
                <a:spcPct val="100000"/>
              </a:lnSpc>
              <a:spcBef>
                <a:spcPts val="901"/>
              </a:spcBef>
            </a:pPr>
            <a:r>
              <a:rPr lang="en-US" sz="1500" b="0" u="none" strike="noStrike">
                <a:solidFill>
                  <a:srgbClr val="1A1A1A"/>
                </a:solidFill>
                <a:effectLst/>
                <a:uFillTx/>
                <a:latin typeface="Calibri"/>
              </a:rPr>
              <a:t>• Obfusquer le code de l'APK Android (ProGuard / R8).</a:t>
            </a:r>
            <a:endParaRPr lang="en-US" sz="1500" b="0" u="none" strike="noStrike">
              <a:solidFill>
                <a:srgbClr val="000000"/>
              </a:solidFill>
              <a:effectLst/>
              <a:uFillTx/>
              <a:latin typeface="Arial"/>
            </a:endParaRPr>
          </a:p>
          <a:p>
            <a:pPr defTabSz="457200">
              <a:lnSpc>
                <a:spcPct val="100000"/>
              </a:lnSpc>
              <a:spcBef>
                <a:spcPts val="901"/>
              </a:spcBef>
            </a:pPr>
            <a:r>
              <a:rPr lang="en-US" sz="1500" b="0" u="none" strike="noStrike">
                <a:solidFill>
                  <a:srgbClr val="1A1A1A"/>
                </a:solidFill>
                <a:effectLst/>
                <a:uFillTx/>
                <a:latin typeface="Calibri"/>
              </a:rPr>
              <a:t>• Déployer un IDS (Intrusion Detection System) sur le bus CAN.</a:t>
            </a:r>
            <a:endParaRPr lang="en-US" sz="1500" b="0" u="none" strike="noStrike">
              <a:solidFill>
                <a:srgbClr val="000000"/>
              </a:solidFill>
              <a:effectLst/>
              <a:uFillTx/>
              <a:latin typeface="Arial"/>
            </a:endParaRPr>
          </a:p>
        </p:txBody>
      </p:sp>
      <p:sp>
        <p:nvSpPr>
          <p:cNvPr id="144" name="Rectangle 9"/>
          <p:cNvSpPr/>
          <p:nvPr/>
        </p:nvSpPr>
        <p:spPr>
          <a:xfrm>
            <a:off x="8229600" y="1737360"/>
            <a:ext cx="3565800" cy="4388760"/>
          </a:xfrm>
          <a:prstGeom prst="rect">
            <a:avLst/>
          </a:prstGeom>
          <a:solidFill>
            <a:srgbClr val="E4EEFF"/>
          </a:solidFill>
          <a:ln>
            <a:solidFill>
              <a:srgbClr val="1E37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5" name="TextBox 10"/>
          <p:cNvSpPr/>
          <p:nvPr/>
        </p:nvSpPr>
        <p:spPr>
          <a:xfrm>
            <a:off x="8339400" y="1828800"/>
            <a:ext cx="3346200" cy="42058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endParaRPr lang="en-US" sz="1800" b="0" u="none" strike="noStrike">
              <a:solidFill>
                <a:srgbClr val="000000"/>
              </a:solidFill>
              <a:effectLst/>
              <a:uFillTx/>
              <a:latin typeface="Arial"/>
            </a:endParaRPr>
          </a:p>
          <a:p>
            <a:pPr defTabSz="457200">
              <a:lnSpc>
                <a:spcPct val="100000"/>
              </a:lnSpc>
            </a:pPr>
            <a:r>
              <a:rPr lang="en-US" sz="1900" b="1" u="none" strike="noStrike">
                <a:solidFill>
                  <a:srgbClr val="1E3755"/>
                </a:solidFill>
                <a:effectLst/>
                <a:uFillTx/>
                <a:latin typeface="Calibri"/>
              </a:rPr>
              <a:t>Long Terme (&gt; 1 an)</a:t>
            </a:r>
            <a:endParaRPr lang="en-US" sz="1900" b="0" u="none" strike="noStrike">
              <a:solidFill>
                <a:srgbClr val="000000"/>
              </a:solidFill>
              <a:effectLst/>
              <a:uFillTx/>
              <a:latin typeface="Arial"/>
            </a:endParaRPr>
          </a:p>
          <a:p>
            <a:pPr defTabSz="457200">
              <a:lnSpc>
                <a:spcPct val="100000"/>
              </a:lnSpc>
              <a:spcBef>
                <a:spcPts val="901"/>
              </a:spcBef>
            </a:pPr>
            <a:r>
              <a:rPr lang="en-US" sz="1500" b="0" u="none" strike="noStrike">
                <a:solidFill>
                  <a:srgbClr val="1A1A1A"/>
                </a:solidFill>
                <a:effectLst/>
                <a:uFillTx/>
                <a:latin typeface="Calibri"/>
              </a:rPr>
              <a:t>• Adopter le standard SecOC (Secure Onboard Communication) pour signer les trames CAN.</a:t>
            </a:r>
            <a:endParaRPr lang="en-US" sz="1500" b="0" u="none" strike="noStrike">
              <a:solidFill>
                <a:srgbClr val="000000"/>
              </a:solidFill>
              <a:effectLst/>
              <a:uFillTx/>
              <a:latin typeface="Arial"/>
            </a:endParaRPr>
          </a:p>
          <a:p>
            <a:pPr defTabSz="457200">
              <a:lnSpc>
                <a:spcPct val="100000"/>
              </a:lnSpc>
              <a:spcBef>
                <a:spcPts val="901"/>
              </a:spcBef>
            </a:pPr>
            <a:r>
              <a:rPr lang="en-US" sz="1500" b="0" u="none" strike="noStrike">
                <a:solidFill>
                  <a:srgbClr val="1A1A1A"/>
                </a:solidFill>
                <a:effectLst/>
                <a:uFillTx/>
                <a:latin typeface="Calibri"/>
              </a:rPr>
              <a:t>• Migration vers une architecture Zero Trust (ZTNA).</a:t>
            </a:r>
            <a:endParaRPr lang="en-US" sz="1500" b="0" u="none" strike="noStrike">
              <a:solidFill>
                <a:srgbClr val="000000"/>
              </a:solidFill>
              <a:effectLst/>
              <a:uFillTx/>
              <a:latin typeface="Arial"/>
            </a:endParaRPr>
          </a:p>
          <a:p>
            <a:pPr defTabSz="457200">
              <a:lnSpc>
                <a:spcPct val="100000"/>
              </a:lnSpc>
              <a:spcBef>
                <a:spcPts val="901"/>
              </a:spcBef>
            </a:pPr>
            <a:r>
              <a:rPr lang="en-US" sz="1500" b="0" u="none" strike="noStrike">
                <a:solidFill>
                  <a:srgbClr val="1A1A1A"/>
                </a:solidFill>
                <a:effectLst/>
                <a:uFillTx/>
                <a:latin typeface="Calibri"/>
              </a:rPr>
              <a:t>• Programme de Bug Bounty continu.</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Rectangle 1"/>
          <p:cNvSpPr/>
          <p:nvPr/>
        </p:nvSpPr>
        <p:spPr>
          <a:xfrm>
            <a:off x="0" y="0"/>
            <a:ext cx="12191400" cy="6857640"/>
          </a:xfrm>
          <a:prstGeom prst="rect">
            <a:avLst/>
          </a:prstGeom>
          <a:solidFill>
            <a:srgbClr val="FFF5E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7" name="Rectangle 2"/>
          <p:cNvSpPr/>
          <p:nvPr/>
        </p:nvSpPr>
        <p:spPr>
          <a:xfrm>
            <a:off x="0" y="0"/>
            <a:ext cx="273960" cy="6857640"/>
          </a:xfrm>
          <a:prstGeom prst="rect">
            <a:avLst/>
          </a:prstGeom>
          <a:solidFill>
            <a:srgbClr val="E05C2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8" name="Rectangle 3"/>
          <p:cNvSpPr/>
          <p:nvPr/>
        </p:nvSpPr>
        <p:spPr>
          <a:xfrm>
            <a:off x="0" y="274320"/>
            <a:ext cx="12191400" cy="914040"/>
          </a:xfrm>
          <a:prstGeom prst="rect">
            <a:avLst/>
          </a:prstGeom>
          <a:solidFill>
            <a:srgbClr val="8B00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9" name="TextBox 4"/>
          <p:cNvSpPr/>
          <p:nvPr/>
        </p:nvSpPr>
        <p:spPr>
          <a:xfrm>
            <a:off x="457200" y="274320"/>
            <a:ext cx="11277000" cy="914040"/>
          </a:xfrm>
          <a:prstGeom prst="rect">
            <a:avLst/>
          </a:prstGeom>
          <a:noFill/>
          <a:ln w="0">
            <a:noFill/>
          </a:ln>
        </p:spPr>
        <p:style>
          <a:lnRef idx="0"/>
          <a:fillRef idx="0"/>
          <a:effectRef idx="0"/>
          <a:fontRef idx="minor"/>
        </p:style>
        <p:txBody>
          <a:bodyPr wrap="none" lIns="90000" tIns="45000" rIns="90000" bIns="45000" anchor="ctr">
            <a:spAutoFit/>
          </a:bodyPr>
          <a:p>
            <a:pPr defTabSz="457200">
              <a:lnSpc>
                <a:spcPct val="100000"/>
              </a:lnSpc>
            </a:pPr>
            <a:r>
              <a:rPr lang="en-US" sz="3000" b="1" u="none" strike="noStrike">
                <a:solidFill>
                  <a:srgbClr val="FFFFFF"/>
                </a:solidFill>
                <a:effectLst/>
                <a:uFillTx/>
                <a:latin typeface="Calibri"/>
              </a:rPr>
              <a:t>Conclusion &amp; Questions</a:t>
            </a:r>
            <a:endParaRPr lang="en-US" sz="3000" b="0" u="none" strike="noStrike">
              <a:solidFill>
                <a:srgbClr val="000000"/>
              </a:solidFill>
              <a:effectLst/>
              <a:uFillTx/>
              <a:latin typeface="Arial"/>
            </a:endParaRPr>
          </a:p>
        </p:txBody>
      </p:sp>
      <p:sp>
        <p:nvSpPr>
          <p:cNvPr id="150" name="TextBox 5"/>
          <p:cNvSpPr/>
          <p:nvPr/>
        </p:nvSpPr>
        <p:spPr>
          <a:xfrm>
            <a:off x="1371600" y="1828800"/>
            <a:ext cx="9417960" cy="3255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endParaRPr lang="en-US" sz="100" b="0" u="none" strike="noStrike">
              <a:solidFill>
                <a:srgbClr val="000000"/>
              </a:solidFill>
              <a:effectLst/>
              <a:uFillTx/>
              <a:latin typeface="Arial"/>
            </a:endParaRPr>
          </a:p>
          <a:p>
            <a:pPr algn="ctr" defTabSz="457200">
              <a:lnSpc>
                <a:spcPct val="100000"/>
              </a:lnSpc>
            </a:pPr>
            <a:r>
              <a:rPr lang="en-US" sz="3000" b="1" u="none" strike="noStrike">
                <a:solidFill>
                  <a:srgbClr val="8B0000"/>
                </a:solidFill>
                <a:effectLst/>
                <a:uFillTx/>
                <a:latin typeface="Calibri"/>
              </a:rPr>
              <a:t>La sécurité IoT Automobile ne peut pas être une option ajoutée a posteriori.</a:t>
            </a:r>
            <a:endParaRPr lang="en-US" sz="3000" b="0" u="none" strike="noStrike">
              <a:solidFill>
                <a:srgbClr val="000000"/>
              </a:solidFill>
              <a:effectLst/>
              <a:uFillTx/>
              <a:latin typeface="Arial"/>
            </a:endParaRPr>
          </a:p>
          <a:p>
            <a:pPr algn="ctr" defTabSz="457200">
              <a:lnSpc>
                <a:spcPct val="100000"/>
              </a:lnSpc>
              <a:spcBef>
                <a:spcPts val="2001"/>
              </a:spcBef>
            </a:pPr>
            <a:r>
              <a:rPr lang="en-US" sz="2000" b="0" u="none" strike="noStrike">
                <a:solidFill>
                  <a:srgbClr val="1A1A1A"/>
                </a:solidFill>
                <a:effectLst/>
                <a:uFillTx/>
                <a:latin typeface="Calibri"/>
              </a:rPr>
              <a:t>L'absence de chiffrement TLS sur le socket TCP entre le dongle ELM327 et l'application Android constitue une surface d'attaque critique, accessible à tout attaquant sur le même réseau.</a:t>
            </a:r>
            <a:endParaRPr lang="en-US" sz="2000" b="0" u="none" strike="noStrike">
              <a:solidFill>
                <a:srgbClr val="000000"/>
              </a:solidFill>
              <a:effectLst/>
              <a:uFillTx/>
              <a:latin typeface="Arial"/>
            </a:endParaRPr>
          </a:p>
          <a:p>
            <a:pPr algn="ctr" defTabSz="457200">
              <a:lnSpc>
                <a:spcPct val="100000"/>
              </a:lnSpc>
              <a:spcBef>
                <a:spcPts val="1199"/>
              </a:spcBef>
            </a:pPr>
            <a:r>
              <a:rPr lang="en-US" sz="2000" b="0" u="none" strike="noStrike">
                <a:solidFill>
                  <a:srgbClr val="1A1A1A"/>
                </a:solidFill>
                <a:effectLst/>
                <a:uFillTx/>
                <a:latin typeface="Calibri"/>
              </a:rPr>
              <a:t>L'approche Security by Design — socket chiffré, lecture seule CAN, mTLS Cloud — est la seule réponse viable pour garantir l'intégrité des systèmes critiques et la sécurité des passagers.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30</TotalTime>
  <Application>LibreOffice/26.2.2.2$Linux_X86_64 LibreOffice_project/620$Build-2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2026-04-03T12:53:56Z</dcterms:modified>
  <cp:revision>15</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